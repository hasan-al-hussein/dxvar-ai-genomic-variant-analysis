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slideLayouts/slideLayout14.xml" ContentType="application/vnd.openxmlformats-officedocument.presentationml.slideLayout+xml"/>
  <Override PartName="/ppt/theme/theme13.xml" ContentType="application/vnd.openxmlformats-officedocument.theme+xml"/>
  <Override PartName="/ppt/slideLayouts/slideLayout15.xml" ContentType="application/vnd.openxmlformats-officedocument.presentationml.slideLayout+xml"/>
  <Override PartName="/ppt/theme/theme14.xml" ContentType="application/vnd.openxmlformats-officedocument.theme+xml"/>
  <Override PartName="/ppt/slideLayouts/slideLayout16.xml" ContentType="application/vnd.openxmlformats-officedocument.presentationml.slideLayout+xml"/>
  <Override PartName="/ppt/theme/theme15.xml" ContentType="application/vnd.openxmlformats-officedocument.theme+xml"/>
  <Override PartName="/ppt/slideLayouts/slideLayout17.xml" ContentType="application/vnd.openxmlformats-officedocument.presentationml.slideLayout+xml"/>
  <Override PartName="/ppt/theme/theme16.xml" ContentType="application/vnd.openxmlformats-officedocument.theme+xml"/>
  <Override PartName="/ppt/slideLayouts/slideLayout18.xml" ContentType="application/vnd.openxmlformats-officedocument.presentationml.slideLayout+xml"/>
  <Override PartName="/ppt/theme/theme17.xml" ContentType="application/vnd.openxmlformats-officedocument.theme+xml"/>
  <Override PartName="/ppt/slideLayouts/slideLayout19.xml" ContentType="application/vnd.openxmlformats-officedocument.presentationml.slideLayout+xml"/>
  <Override PartName="/ppt/theme/theme18.xml" ContentType="application/vnd.openxmlformats-officedocument.theme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</p:sldMasterIdLst>
  <p:notesMasterIdLst>
    <p:notesMasterId r:id="rId36"/>
  </p:notesMasterIdLst>
  <p:sldIdLst>
    <p:sldId id="256" r:id="rId20"/>
    <p:sldId id="268" r:id="rId21"/>
    <p:sldId id="257" r:id="rId22"/>
    <p:sldId id="274" r:id="rId23"/>
    <p:sldId id="258" r:id="rId24"/>
    <p:sldId id="261" r:id="rId25"/>
    <p:sldId id="260" r:id="rId26"/>
    <p:sldId id="262" r:id="rId27"/>
    <p:sldId id="270" r:id="rId28"/>
    <p:sldId id="271" r:id="rId29"/>
    <p:sldId id="263" r:id="rId30"/>
    <p:sldId id="264" r:id="rId31"/>
    <p:sldId id="269" r:id="rId32"/>
    <p:sldId id="265" r:id="rId33"/>
    <p:sldId id="272" r:id="rId34"/>
    <p:sldId id="267" r:id="rId35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A8A9"/>
    <a:srgbClr val="70F59D"/>
    <a:srgbClr val="87C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/>
    <p:restoredTop sz="86279"/>
  </p:normalViewPr>
  <p:slideViewPr>
    <p:cSldViewPr snapToGrid="0">
      <p:cViewPr varScale="1">
        <p:scale>
          <a:sx n="130" d="100"/>
          <a:sy n="13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8" d="100"/>
        <a:sy n="1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openxmlformats.org/officeDocument/2006/relationships/theme" Target="theme/theme1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Average Matching Accuracy of HPO IDs extracted from Case Descriptions</a:t>
            </a:r>
          </a:p>
        </c:rich>
      </c:tx>
      <c:layout>
        <c:manualLayout>
          <c:xMode val="edge"/>
          <c:yMode val="edge"/>
          <c:x val="0.16278180468850476"/>
          <c:y val="4.91176826487743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>
        <c:manualLayout>
          <c:layoutTarget val="inner"/>
          <c:xMode val="edge"/>
          <c:yMode val="edge"/>
          <c:x val="0.12832457322125448"/>
          <c:y val="0.19141550915090352"/>
          <c:w val="0.83665843363714376"/>
          <c:h val="0.72131445311831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Matching Accuracy of HPO terms extracted from Case Descriptions</c:v>
                </c:pt>
              </c:strCache>
            </c:strRef>
          </c:tx>
          <c:spPr>
            <a:solidFill>
              <a:srgbClr val="87CEE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DeepSeek</c:v>
                </c:pt>
                <c:pt idx="1">
                  <c:v>ChatGPT-4</c:v>
                </c:pt>
                <c:pt idx="2">
                  <c:v>Llama 3.3</c:v>
                </c:pt>
                <c:pt idx="3">
                  <c:v>Doc2HPO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51.1</c:v>
                </c:pt>
                <c:pt idx="1">
                  <c:v>55.1</c:v>
                </c:pt>
                <c:pt idx="2">
                  <c:v>39.6</c:v>
                </c:pt>
                <c:pt idx="3">
                  <c:v>47.2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9E-2E49-AC24-C791F7022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9"/>
        <c:overlap val="-27"/>
        <c:axId val="1384405392"/>
        <c:axId val="1384407104"/>
      </c:barChart>
      <c:catAx>
        <c:axId val="138440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384407104"/>
        <c:crosses val="autoZero"/>
        <c:auto val="1"/>
        <c:lblAlgn val="ctr"/>
        <c:lblOffset val="100"/>
        <c:noMultiLvlLbl val="0"/>
      </c:catAx>
      <c:valAx>
        <c:axId val="1384407104"/>
        <c:scaling>
          <c:orientation val="minMax"/>
          <c:min val="3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dirty="0"/>
                  <a:t>Average Matching Accuracy (%)</a:t>
                </a:r>
              </a:p>
            </c:rich>
          </c:tx>
          <c:layout>
            <c:manualLayout>
              <c:xMode val="edge"/>
              <c:yMode val="edge"/>
              <c:x val="3.9165001085790067E-2"/>
              <c:y val="0.247327547194440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384405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Performance in Getting the Causative Variant Ranked First</a:t>
            </a:r>
          </a:p>
        </c:rich>
      </c:tx>
      <c:layout>
        <c:manualLayout>
          <c:xMode val="edge"/>
          <c:yMode val="edge"/>
          <c:x val="0.16278180468850476"/>
          <c:y val="4.91176826487743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>
        <c:manualLayout>
          <c:layoutTarget val="inner"/>
          <c:xMode val="edge"/>
          <c:yMode val="edge"/>
          <c:x val="0.15873501428731063"/>
          <c:y val="0.23067001908495618"/>
          <c:w val="0.83516374535063764"/>
          <c:h val="0.682059860223489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in Getting the Causative Variant Ranked First</c:v>
                </c:pt>
              </c:strCache>
            </c:strRef>
          </c:tx>
          <c:spPr>
            <a:solidFill>
              <a:srgbClr val="87CEE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 tools (Exomiser) </c:v>
                </c:pt>
                <c:pt idx="1">
                  <c:v>DxVar (Exomiser + AI)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A-3046-AE88-FF1AC43465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9"/>
        <c:overlap val="-27"/>
        <c:axId val="1384405392"/>
        <c:axId val="1384407104"/>
      </c:barChart>
      <c:catAx>
        <c:axId val="138440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384407104"/>
        <c:crosses val="autoZero"/>
        <c:auto val="1"/>
        <c:lblAlgn val="ctr"/>
        <c:lblOffset val="100"/>
        <c:noMultiLvlLbl val="0"/>
      </c:catAx>
      <c:valAx>
        <c:axId val="1384407104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dirty="0"/>
                  <a:t>Percentage (%)</a:t>
                </a:r>
              </a:p>
            </c:rich>
          </c:tx>
          <c:layout>
            <c:manualLayout>
              <c:xMode val="edge"/>
              <c:yMode val="edge"/>
              <c:x val="3.5674179415955902E-2"/>
              <c:y val="0.433072311571959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384405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39" name="PlaceHolder 4"/>
          <p:cNvSpPr>
            <a:spLocks noGrp="1"/>
          </p:cNvSpPr>
          <p:nvPr>
            <p:ph type="dt" idx="4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40" name="PlaceHolder 5"/>
          <p:cNvSpPr>
            <a:spLocks noGrp="1"/>
          </p:cNvSpPr>
          <p:nvPr>
            <p:ph type="ftr" idx="4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41" name="PlaceHolder 6"/>
          <p:cNvSpPr>
            <a:spLocks noGrp="1"/>
          </p:cNvSpPr>
          <p:nvPr>
            <p:ph type="sldNum" idx="4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2CD2AA9-B9AD-4560-B9BA-5BB9C91DCB3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uacae-my.sharepoint.com/:p:/g/personal/100058811_ku_ac_ae/EW05s2S_1VJGgQYCezYQFMUBV3Pt3TVsDoGV2pFu5txNEA?e=PyWT63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uacae-my.sharepoint.com/:p:/g/personal/100058811_ku_ac_ae/EW05s2S_1VJGgQYCezYQFMUBV3Pt3TVsDoGV2pFu5txNEA?e=PyWT63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sng" strike="noStrike" spc="-1" dirty="0">
                <a:solidFill>
                  <a:schemeClr val="dk1"/>
                </a:solidFill>
                <a:uFillTx/>
                <a:latin typeface="Calibri"/>
                <a:ea typeface="Calibri"/>
                <a:hlinkClick r:id="rId3"/>
              </a:rPr>
              <a:t>DxVar Presentation.pptx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0586-C1BE-64A2-F55F-FF90CA9A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>
            <a:extLst>
              <a:ext uri="{FF2B5EF4-FFF2-40B4-BE49-F238E27FC236}">
                <a16:creationId xmlns:a16="http://schemas.microsoft.com/office/drawing/2014/main" id="{79D53BAF-63C5-FA8E-A0F4-08AA5E1EBBC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sng" strike="noStrike" spc="-1">
                <a:solidFill>
                  <a:schemeClr val="dk1"/>
                </a:solidFill>
                <a:uFillTx/>
                <a:latin typeface="Calibri"/>
                <a:ea typeface="Calibri"/>
                <a:hlinkClick r:id="rId3"/>
              </a:rPr>
              <a:t>DxVar Presentation.pptx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>
            <a:extLst>
              <a:ext uri="{FF2B5EF4-FFF2-40B4-BE49-F238E27FC236}">
                <a16:creationId xmlns:a16="http://schemas.microsoft.com/office/drawing/2014/main" id="{E85BB498-5D03-E55A-B941-BEBB3FD66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47488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strike="noStrike" spc="-1">
                <a:solidFill>
                  <a:srgbClr val="172A3B"/>
                </a:solidFill>
                <a:latin typeface="+mn-lt"/>
                <a:ea typeface="Calibri"/>
              </a:rPr>
              <a:t>Its essential to note that NOT every gene mutation is harmful or disease-causing. It could be neutral or even advantageos in some cases. 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b="0" strike="noStrike" spc="-1">
                <a:solidFill>
                  <a:srgbClr val="172A3B"/>
                </a:solidFill>
                <a:latin typeface="proxima-nova"/>
                <a:ea typeface="Calibri"/>
              </a:rPr>
              <a:t>This left the genetics community with a need to help categorize genetic changes and also help clearly communicate whether certain genetic mutations are harmful or just simply exist without impacts.</a:t>
            </a:r>
            <a:endParaRPr lang="en-US" sz="6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strike="noStrike" spc="-1">
                <a:solidFill>
                  <a:srgbClr val="172A3B"/>
                </a:solidFill>
                <a:latin typeface="+mn-lt"/>
                <a:ea typeface="Calibri"/>
              </a:rPr>
              <a:t>So, let’s revisit: what is a gene mutation? 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strike="noStrike" spc="-1">
                <a:solidFill>
                  <a:srgbClr val="172A3B"/>
                </a:solidFill>
                <a:latin typeface="+mn-lt"/>
                <a:ea typeface="Calibri"/>
              </a:rPr>
              <a:t>Main type of variants: snps, indels, structural varainats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b="0" strike="noStrike" spc="-1">
                <a:solidFill>
                  <a:srgbClr val="212529"/>
                </a:solidFill>
                <a:latin typeface="Roboto"/>
                <a:ea typeface="Calibri"/>
              </a:rPr>
              <a:t>These variations, or differences in the DNA sequence, are what make each of us unique, contribute to susceptibility to certain diseases, and influence our response to the environment.</a:t>
            </a:r>
            <a:endParaRPr lang="en-US" sz="6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endParaRPr lang="en-US" sz="6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2D4CFA-01C9-42B7-8A22-173D80FE0FC7}" type="slidenum"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7BC4-CAD0-F66C-374D-122B05054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>
            <a:extLst>
              <a:ext uri="{FF2B5EF4-FFF2-40B4-BE49-F238E27FC236}">
                <a16:creationId xmlns:a16="http://schemas.microsoft.com/office/drawing/2014/main" id="{1999B768-DEF7-556E-9BF5-C6F39A79E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>
            <a:extLst>
              <a:ext uri="{FF2B5EF4-FFF2-40B4-BE49-F238E27FC236}">
                <a16:creationId xmlns:a16="http://schemas.microsoft.com/office/drawing/2014/main" id="{E933D8A7-D1AC-E5B5-2DEB-E184FCFAAA7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>
            <a:extLst>
              <a:ext uri="{FF2B5EF4-FFF2-40B4-BE49-F238E27FC236}">
                <a16:creationId xmlns:a16="http://schemas.microsoft.com/office/drawing/2014/main" id="{13DF707D-6D77-9ABC-A298-227440572BB6}"/>
              </a:ext>
            </a:extLst>
          </p:cNvPr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324909-55F2-4D0C-B10E-67AA6048B606}" type="slidenum">
              <a:rPr lang="en-GB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5544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Phenotype Matching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 🧾: Does the variant match the patient's clinical features (HPO terms)?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Pathogenicity Scores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 ☣️: Predictions from tools like </a:t>
            </a: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REVEL, SIFT, PolyPhen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Allele Frequency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 📊: Rare variants (e.g., from </a:t>
            </a: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gnomAD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) are more suspect in rare diseases.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Inheritance Mode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 👪: Variant fits expected genetic inheritance pattern (dominant, recessive, etc.).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Gene-Disease Associations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 📚: Verified links from databases like </a:t>
            </a:r>
            <a:r>
              <a:rPr lang="en-US" sz="1200" b="1" strike="noStrike" spc="-1">
                <a:solidFill>
                  <a:schemeClr val="dk1"/>
                </a:solidFill>
                <a:latin typeface="Calibri"/>
                <a:ea typeface="Calibri"/>
              </a:rPr>
              <a:t>OMIM, ClinGen, HGMD</a:t>
            </a:r>
            <a:r>
              <a:rPr lang="en-US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324909-55F2-4D0C-B10E-67AA6048B606}" type="slidenum">
              <a:rPr lang="en-GB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AE" dirty="0"/>
              <a:t>ention 70B param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pPr indent="0" algn="r">
              <a:buNone/>
            </a:pPr>
            <a:fld id="{72CD2AA9-B9AD-4560-B9BA-5BB9C91DCB3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2479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892687-0AFD-4584-8428-C2C70A676ACC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AE" dirty="0"/>
              <a:t>ntroduce what HPO terms are and why they are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pPr indent="0" algn="r">
              <a:buNone/>
            </a:pPr>
            <a:fld id="{72CD2AA9-B9AD-4560-B9BA-5BB9C91DCB3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8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6154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F711-F1AE-1765-73CB-0A552FCF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E1043-07FF-B830-5159-B1BEAB2F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9AED3-830D-5C68-2936-A1992BB30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286AA-0A2F-47F7-049E-FBD54FDB7EA5}"/>
              </a:ext>
            </a:extLst>
          </p:cNvPr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pPr indent="0" algn="r">
              <a:buNone/>
            </a:pPr>
            <a:fld id="{72CD2AA9-B9AD-4560-B9BA-5BB9C91DCB3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2802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37FC-5DB4-FEB5-0986-0E5A6C6E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8875D-3754-9707-D773-830C93CDD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6B22D-E81F-DA69-CF38-8BCEAA19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  <a:p>
            <a:r>
              <a:rPr lang="en-US" dirty="0"/>
              <a:t>C</a:t>
            </a:r>
            <a:r>
              <a:rPr lang="en-AE" dirty="0"/>
              <a:t>heck actual percentage based on cases for exomiser alone or use reference (exomiser source)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62BFE-E4EF-9418-99C0-4FC14312E259}"/>
              </a:ext>
            </a:extLst>
          </p:cNvPr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pPr indent="0" algn="r">
              <a:buNone/>
            </a:pPr>
            <a:fld id="{72CD2AA9-B9AD-4560-B9BA-5BB9C91DCB3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6674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dirty="0"/>
              <a:t>Reword last point to be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pPr indent="0" algn="r">
              <a:buNone/>
            </a:pPr>
            <a:fld id="{72CD2AA9-B9AD-4560-B9BA-5BB9C91DCB3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12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9801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pPr indent="0" algn="r">
              <a:buNone/>
            </a:pPr>
            <a:fld id="{72CD2AA9-B9AD-4560-B9BA-5BB9C91DCB3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9104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 Ne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3C03047-0BA6-4F78-8C44-1119820F978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B3A8771-D670-4B32-A324-70E6E4C0EF8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A68FC5B-88B6-4370-8C3E-EC0C2D141A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024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2C5A8D6-9FAD-4300-BFFA-ADF23CFA23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A68FC5B-88B6-4370-8C3E-EC0C2D141A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8933" y="9594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5657EC0-541D-4F77-9FEA-D875ACB3D93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1313815-97F1-457C-9A78-5756B5F2D1A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0B2C701-8BBB-4108-B84B-AC137E7B3EB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AB07C553-1508-4B93-879C-EFF42D0AD48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3D802C6-15AA-4496-89B6-E0A4B79553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C8093D11-877B-4244-BD63-CDEB6828674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eading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000FDEEE-CCC4-4D30-8DDB-5058FFDD4C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63B6024A-5609-4865-928B-6B5B04254FB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2EA001DB-4A4F-4C84-95CD-10F7CCC8E56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_OBJEC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D07BA719-54D9-4EA0-A691-F928ED3C5AE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;p1" hidden="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" name="Google Shape;20;p2"/>
          <p:cNvCxnSpPr/>
          <p:nvPr/>
        </p:nvCxnSpPr>
        <p:spPr>
          <a:xfrm>
            <a:off x="5181480" y="2752560"/>
            <a:ext cx="1810800" cy="1080"/>
          </a:xfrm>
          <a:prstGeom prst="straightConnector1">
            <a:avLst/>
          </a:prstGeom>
          <a:ln w="12700">
            <a:solidFill>
              <a:srgbClr val="FFFFFF"/>
            </a:solidFill>
            <a:miter/>
          </a:ln>
        </p:spPr>
      </p:cxnSp>
      <p:pic>
        <p:nvPicPr>
          <p:cNvPr id="2" name="Google Shape;21;p2"/>
          <p:cNvPicPr/>
          <p:nvPr/>
        </p:nvPicPr>
        <p:blipFill>
          <a:blip r:embed="rId3"/>
          <a:stretch/>
        </p:blipFill>
        <p:spPr>
          <a:xfrm>
            <a:off x="804960" y="654480"/>
            <a:ext cx="3539160" cy="7732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;p1" hidden="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" name="Google Shape;97;p11"/>
          <p:cNvPicPr/>
          <p:nvPr/>
        </p:nvPicPr>
        <p:blipFill>
          <a:blip r:embed="rId3"/>
          <a:stretch/>
        </p:blipFill>
        <p:spPr>
          <a:xfrm>
            <a:off x="4622760" y="891000"/>
            <a:ext cx="2367720" cy="517320"/>
          </a:xfrm>
          <a:prstGeom prst="rect">
            <a:avLst/>
          </a:prstGeom>
          <a:ln w="0">
            <a:noFill/>
          </a:ln>
        </p:spPr>
      </p:pic>
      <p:sp>
        <p:nvSpPr>
          <p:cNvPr id="5" name="Google Shape;98;p11"/>
          <p:cNvSpPr/>
          <p:nvPr/>
        </p:nvSpPr>
        <p:spPr>
          <a:xfrm>
            <a:off x="752400" y="2553840"/>
            <a:ext cx="10647720" cy="175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1500" b="1" strike="noStrike" spc="-1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  <a:endParaRPr lang="en-US" sz="1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Google Shape;99;p11"/>
          <p:cNvSpPr/>
          <p:nvPr/>
        </p:nvSpPr>
        <p:spPr>
          <a:xfrm>
            <a:off x="5181480" y="6146640"/>
            <a:ext cx="183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50" b="1" strike="noStrike" spc="-1">
                <a:solidFill>
                  <a:srgbClr val="FFFFFF"/>
                </a:solidFill>
                <a:latin typeface="Arial"/>
                <a:ea typeface="Arial"/>
              </a:rPr>
              <a:t>ku.ac.ae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5;p1" hidden="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Google Shape;103;p12"/>
          <p:cNvPicPr/>
          <p:nvPr/>
        </p:nvPicPr>
        <p:blipFill>
          <a:blip r:embed="rId3"/>
          <a:stretch/>
        </p:blipFill>
        <p:spPr>
          <a:xfrm>
            <a:off x="804960" y="654480"/>
            <a:ext cx="3539160" cy="773280"/>
          </a:xfrm>
          <a:prstGeom prst="rect">
            <a:avLst/>
          </a:prstGeom>
          <a:ln w="0">
            <a:noFill/>
          </a:ln>
        </p:spPr>
      </p:pic>
      <p:cxnSp>
        <p:nvCxnSpPr>
          <p:cNvPr id="11" name="Google Shape;105;p12"/>
          <p:cNvCxnSpPr/>
          <p:nvPr/>
        </p:nvCxnSpPr>
        <p:spPr>
          <a:xfrm>
            <a:off x="1768680" y="2752560"/>
            <a:ext cx="1811160" cy="1080"/>
          </a:xfrm>
          <a:prstGeom prst="straightConnector1">
            <a:avLst/>
          </a:prstGeom>
          <a:ln w="12700">
            <a:solidFill>
              <a:srgbClr val="FFFFFF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Google Shape;107;p13"/>
          <p:cNvPicPr/>
          <p:nvPr/>
        </p:nvPicPr>
        <p:blipFill>
          <a:blip r:embed="rId3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pic>
        <p:nvPicPr>
          <p:cNvPr id="14" name="Google Shape;111;p13"/>
          <p:cNvPicPr/>
          <p:nvPr/>
        </p:nvPicPr>
        <p:blipFill>
          <a:blip r:embed="rId4"/>
          <a:stretch/>
        </p:blipFill>
        <p:spPr>
          <a:xfrm>
            <a:off x="804960" y="654480"/>
            <a:ext cx="3539160" cy="773280"/>
          </a:xfrm>
          <a:prstGeom prst="rect">
            <a:avLst/>
          </a:prstGeom>
          <a:ln w="0">
            <a:noFill/>
          </a:ln>
        </p:spPr>
      </p:pic>
      <p:cxnSp>
        <p:nvCxnSpPr>
          <p:cNvPr id="15" name="Google Shape;112;p13"/>
          <p:cNvCxnSpPr/>
          <p:nvPr/>
        </p:nvCxnSpPr>
        <p:spPr>
          <a:xfrm>
            <a:off x="1768680" y="2752560"/>
            <a:ext cx="1811160" cy="1080"/>
          </a:xfrm>
          <a:prstGeom prst="straightConnector1">
            <a:avLst/>
          </a:prstGeom>
          <a:ln w="12700">
            <a:solidFill>
              <a:srgbClr val="FFFFFF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Google Shape;118;p14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sp>
        <p:nvSpPr>
          <p:cNvPr id="18" name="Google Shape;119;p14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" name="Google Shape;121;p14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20" name="PlaceHolder 1"/>
          <p:cNvSpPr>
            <a:spLocks noGrp="1"/>
          </p:cNvSpPr>
          <p:nvPr>
            <p:ph type="ftr" idx="1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2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87B95EA2-1E94-4DC9-970E-29CED81C2049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3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Google Shape;129;p15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Google Shape;130;p15"/>
          <p:cNvPicPr/>
          <p:nvPr/>
        </p:nvPicPr>
        <p:blipFill>
          <a:blip r:embed="rId4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cxnSp>
        <p:nvCxnSpPr>
          <p:cNvPr id="26" name="Google Shape;131;p15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ftr" idx="4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5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9BEC223D-7E9B-485E-9F28-F1127B96FD8C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6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141;p16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Google Shape;142;p16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cxnSp>
        <p:nvCxnSpPr>
          <p:cNvPr id="39" name="Google Shape;143;p16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40" name="PlaceHolder 1"/>
          <p:cNvSpPr>
            <a:spLocks noGrp="1"/>
          </p:cNvSpPr>
          <p:nvPr>
            <p:ph type="ftr" idx="7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8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653947A7-A829-468D-8F19-21F38FFB044E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9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ftr" idx="10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1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3C59F1E-C356-4777-806A-4BC7934FF3C5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2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ftr" idx="13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4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3F348FAE-233C-45EB-8BFC-0739B8FD2B0E}" type="slidenum">
              <a:rPr lang="en-US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5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oogle Shape;28;p3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sp>
        <p:nvSpPr>
          <p:cNvPr id="59" name="Google Shape;29;p3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ftr" idx="16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9229C096-BB84-4639-B56C-F5C848A1C4A9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18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37;p4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Google Shape;38;p4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cxnSp>
        <p:nvCxnSpPr>
          <p:cNvPr id="66" name="Google Shape;39;p4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67" name="PlaceHolder 1"/>
          <p:cNvSpPr>
            <a:spLocks noGrp="1"/>
          </p:cNvSpPr>
          <p:nvPr>
            <p:ph type="ftr" idx="19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20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8E8F0BD9-C02C-446F-A627-7CC255B8B895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21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47;p5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48;p5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cxnSp>
        <p:nvCxnSpPr>
          <p:cNvPr id="73" name="Google Shape;49;p5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74" name="PlaceHolder 1"/>
          <p:cNvSpPr>
            <a:spLocks noGrp="1"/>
          </p:cNvSpPr>
          <p:nvPr>
            <p:ph type="ftr" idx="22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23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0E93C0E1-0681-4EE1-A0A7-F357C7DAB892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24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Google Shape;56;p6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57;p6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Google Shape;58;p6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ftr" idx="25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6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C5C21CA9-1190-455E-A233-47ABCCD3B296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dt" idx="27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64;p7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sp>
        <p:nvSpPr>
          <p:cNvPr id="90" name="Google Shape;65;p7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Google Shape;66;p7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92" name="PlaceHolder 1"/>
          <p:cNvSpPr>
            <a:spLocks noGrp="1"/>
          </p:cNvSpPr>
          <p:nvPr>
            <p:ph type="ftr" idx="28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9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EDF0BB55-A691-4385-93D1-E95030343C0E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30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75;p8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76;p8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" name="Google Shape;77;p8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99" name="PlaceHolder 1"/>
          <p:cNvSpPr>
            <a:spLocks noGrp="1"/>
          </p:cNvSpPr>
          <p:nvPr>
            <p:ph type="ftr" idx="31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32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8F426B9E-D5F3-4662-B5D1-2E946F251C77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33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Google Shape;86;p9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sp>
        <p:nvSpPr>
          <p:cNvPr id="104" name="Google Shape;87;p9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ftr" idx="34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35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EF9B7AD5-7A30-4EAB-9E01-5BAC0C70E296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36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93;p10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dk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oogle Shape;94;p10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cxnSp>
        <p:nvCxnSpPr>
          <p:cNvPr id="111" name="Google Shape;95;p10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3" name="PlaceHolder 2"/>
          <p:cNvSpPr>
            <a:spLocks noGrp="1"/>
          </p:cNvSpPr>
          <p:nvPr>
            <p:ph type="ftr" idx="37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38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2DF933B1-5AFA-4284-A76E-D14759714047}" type="slidenum">
              <a:rPr lang="en-GB" sz="85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39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ftr" idx="40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ldNum" idx="41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DED8B879-6297-47E3-AA5D-9039A4256541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dt" idx="42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5;p1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29;p15"/>
          <p:cNvSpPr/>
          <p:nvPr/>
        </p:nvSpPr>
        <p:spPr>
          <a:xfrm>
            <a:off x="10410840" y="203040"/>
            <a:ext cx="96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ku.ac.ae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Google Shape;130;p15"/>
          <p:cNvPicPr/>
          <p:nvPr/>
        </p:nvPicPr>
        <p:blipFill>
          <a:blip r:embed="rId3"/>
          <a:stretch/>
        </p:blipFill>
        <p:spPr>
          <a:xfrm>
            <a:off x="383760" y="236160"/>
            <a:ext cx="1810800" cy="184320"/>
          </a:xfrm>
          <a:prstGeom prst="rect">
            <a:avLst/>
          </a:prstGeom>
          <a:ln w="0">
            <a:noFill/>
          </a:ln>
        </p:spPr>
      </p:pic>
      <p:cxnSp>
        <p:nvCxnSpPr>
          <p:cNvPr id="126" name="Google Shape;131;p15"/>
          <p:cNvCxnSpPr/>
          <p:nvPr/>
        </p:nvCxnSpPr>
        <p:spPr>
          <a:xfrm>
            <a:off x="383400" y="533160"/>
            <a:ext cx="11466720" cy="1080"/>
          </a:xfrm>
          <a:prstGeom prst="straightConnector1">
            <a:avLst/>
          </a:prstGeom>
          <a:ln w="9525">
            <a:solidFill>
              <a:srgbClr val="96969A"/>
            </a:solidFill>
            <a:miter/>
          </a:ln>
        </p:spPr>
      </p:cxn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30" name="PlaceHolder 4"/>
          <p:cNvSpPr>
            <a:spLocks noGrp="1"/>
          </p:cNvSpPr>
          <p:nvPr>
            <p:ph type="ftr" idx="43"/>
          </p:nvPr>
        </p:nvSpPr>
        <p:spPr>
          <a:xfrm>
            <a:off x="2867040" y="203040"/>
            <a:ext cx="4113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44"/>
          </p:nvPr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850" b="0" strike="noStrike" spc="-1">
                <a:solidFill>
                  <a:schemeClr val="lt2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E69D286B-DA8D-4E7C-BFF3-69CC31049313}" type="slidenum">
              <a:rPr lang="en-GB" sz="850" b="0" strike="noStrike" spc="-1">
                <a:solidFill>
                  <a:schemeClr val="lt2"/>
                </a:solidFill>
                <a:latin typeface="Arial"/>
                <a:ea typeface="Arial"/>
              </a:rPr>
              <a:t>‹#›</a:t>
            </a:fld>
            <a:endParaRPr lang="en-US" sz="8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dt" idx="45"/>
          </p:nvPr>
        </p:nvSpPr>
        <p:spPr>
          <a:xfrm>
            <a:off x="8086680" y="203040"/>
            <a:ext cx="1732320" cy="2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youtube.com/watch?v=48dp_LuwO00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.png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60;p19"/>
          <p:cNvSpPr/>
          <p:nvPr/>
        </p:nvSpPr>
        <p:spPr>
          <a:xfrm>
            <a:off x="10087581" y="165203"/>
            <a:ext cx="1684440" cy="271045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3" name="Google Shape;161;p19"/>
          <p:cNvSpPr/>
          <p:nvPr/>
        </p:nvSpPr>
        <p:spPr>
          <a:xfrm>
            <a:off x="1882800" y="3152160"/>
            <a:ext cx="4222080" cy="9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20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44" name="Google Shape;162;p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681" y="391129"/>
            <a:ext cx="2476976" cy="540000"/>
          </a:xfrm>
          <a:prstGeom prst="rect">
            <a:avLst/>
          </a:prstGeom>
          <a:ln w="0">
            <a:noFill/>
          </a:ln>
        </p:spPr>
      </p:pic>
      <p:pic>
        <p:nvPicPr>
          <p:cNvPr id="146" name="Google Shape;164;p19"/>
          <p:cNvPicPr/>
          <p:nvPr/>
        </p:nvPicPr>
        <p:blipFill>
          <a:blip r:embed="rId4"/>
          <a:stretch/>
        </p:blipFill>
        <p:spPr>
          <a:xfrm>
            <a:off x="2821468" y="1971900"/>
            <a:ext cx="6358320" cy="2543400"/>
          </a:xfrm>
          <a:prstGeom prst="rect">
            <a:avLst/>
          </a:prstGeom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1F2081-498C-0A8F-8055-C389A54171A7}"/>
              </a:ext>
            </a:extLst>
          </p:cNvPr>
          <p:cNvSpPr txBox="1"/>
          <p:nvPr/>
        </p:nvSpPr>
        <p:spPr>
          <a:xfrm>
            <a:off x="3272760" y="459715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AI-Driven Genomic Variant Analysis Tool</a:t>
            </a: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94F254C-4CAC-4B59-C82F-89D2F0630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760" y="436248"/>
            <a:ext cx="267734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erican University of Beirut - Wikipedia">
            <a:extLst>
              <a:ext uri="{FF2B5EF4-FFF2-40B4-BE49-F238E27FC236}">
                <a16:creationId xmlns:a16="http://schemas.microsoft.com/office/drawing/2014/main" id="{15137F3A-161A-D854-8F09-30135C87A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04" y="436248"/>
            <a:ext cx="163636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ee High-Quality uaeu logo for Creative Design">
            <a:extLst>
              <a:ext uri="{FF2B5EF4-FFF2-40B4-BE49-F238E27FC236}">
                <a16:creationId xmlns:a16="http://schemas.microsoft.com/office/drawing/2014/main" id="{A09A8BDE-A9D8-73F5-1B74-92ECC0E45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670" y="436248"/>
            <a:ext cx="107579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ubadala Logo PNG Vector (EPS) Free Download">
            <a:extLst>
              <a:ext uri="{FF2B5EF4-FFF2-40B4-BE49-F238E27FC236}">
                <a16:creationId xmlns:a16="http://schemas.microsoft.com/office/drawing/2014/main" id="{6CEBB25F-CCB3-D14B-4089-8CF9E4F637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9" b="32967"/>
          <a:stretch>
            <a:fillRect/>
          </a:stretch>
        </p:blipFill>
        <p:spPr bwMode="auto">
          <a:xfrm>
            <a:off x="10162045" y="391129"/>
            <a:ext cx="155736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53772-F71F-C813-499B-328B47A8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61;p19">
            <a:extLst>
              <a:ext uri="{FF2B5EF4-FFF2-40B4-BE49-F238E27FC236}">
                <a16:creationId xmlns:a16="http://schemas.microsoft.com/office/drawing/2014/main" id="{7F258D23-ACC5-2F89-E54E-C9C0EDCD4A3F}"/>
              </a:ext>
            </a:extLst>
          </p:cNvPr>
          <p:cNvSpPr/>
          <p:nvPr/>
        </p:nvSpPr>
        <p:spPr>
          <a:xfrm>
            <a:off x="1882800" y="3152160"/>
            <a:ext cx="4222080" cy="9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20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graphicFrame>
        <p:nvGraphicFramePr>
          <p:cNvPr id="147" name="Google Shape;165;p19">
            <a:extLst>
              <a:ext uri="{FF2B5EF4-FFF2-40B4-BE49-F238E27FC236}">
                <a16:creationId xmlns:a16="http://schemas.microsoft.com/office/drawing/2014/main" id="{CFEAE1E3-39BD-7B1B-5FF7-5270C972E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383284"/>
              </p:ext>
            </p:extLst>
          </p:nvPr>
        </p:nvGraphicFramePr>
        <p:xfrm>
          <a:off x="6095127" y="2636814"/>
          <a:ext cx="4989453" cy="2700000"/>
        </p:xfrm>
        <a:graphic>
          <a:graphicData uri="http://schemas.openxmlformats.org/drawingml/2006/table">
            <a:tbl>
              <a:tblPr/>
              <a:tblGrid>
                <a:gridCol w="249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 rowSpan="5"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endParaRPr lang="en-GB" sz="1700" b="1" strike="noStrike" spc="-1" dirty="0">
                        <a:solidFill>
                          <a:srgbClr val="222222"/>
                        </a:solidFill>
                        <a:latin typeface="Arial"/>
                        <a:ea typeface="Arial"/>
                      </a:endParaRPr>
                    </a:p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endParaRPr lang="en-GB" sz="1700" b="1" strike="noStrike" spc="-1" dirty="0">
                        <a:solidFill>
                          <a:srgbClr val="222222"/>
                        </a:solidFill>
                        <a:latin typeface="Arial"/>
                        <a:ea typeface="Arial"/>
                      </a:endParaRPr>
                    </a:p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endParaRPr lang="en-GB" sz="1700" b="1" strike="noStrike" spc="-1" dirty="0">
                        <a:solidFill>
                          <a:srgbClr val="222222"/>
                        </a:solidFill>
                        <a:latin typeface="Arial"/>
                        <a:ea typeface="Arial"/>
                      </a:endParaRPr>
                    </a:p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Students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1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Wahaj Ahmed 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1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Yaman Masad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1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Hasan Alhussein 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1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Omar Yousef 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1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Huda </a:t>
                      </a:r>
                      <a:r>
                        <a:rPr lang="en-GB" sz="1200" b="0" strike="noStrike" spc="-1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Bamatraf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8" name="Google Shape;166;p19">
            <a:extLst>
              <a:ext uri="{FF2B5EF4-FFF2-40B4-BE49-F238E27FC236}">
                <a16:creationId xmlns:a16="http://schemas.microsoft.com/office/drawing/2014/main" id="{DD09845C-D26A-91F1-2992-68BD2946E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8180716"/>
              </p:ext>
            </p:extLst>
          </p:nvPr>
        </p:nvGraphicFramePr>
        <p:xfrm>
          <a:off x="895860" y="2906814"/>
          <a:ext cx="7086600" cy="2160000"/>
        </p:xfrm>
        <a:graphic>
          <a:graphicData uri="http://schemas.openxmlformats.org/drawingml/2006/table">
            <a:tbl>
              <a:tblPr/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Faculty Advisor &amp; PI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Dr. Halima </a:t>
                      </a:r>
                      <a:r>
                        <a:rPr lang="en-GB" sz="1200" b="0" strike="noStrike" spc="-1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Alnaqbi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Co-advisor and Academic Mentor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Dr. Nour al </a:t>
                      </a:r>
                      <a:r>
                        <a:rPr lang="en-GB" sz="1200" b="0" strike="noStrike" spc="-1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dain</a:t>
                      </a: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lang="en-GB" sz="1200" b="0" strike="noStrike" spc="-1" dirty="0" err="1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Marzouka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GB" sz="1400" b="1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Industry Mentor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strike="noStrike" spc="-1" dirty="0">
                          <a:solidFill>
                            <a:srgbClr val="222222"/>
                          </a:solidFill>
                          <a:latin typeface="Arial"/>
                          <a:ea typeface="Arial"/>
                        </a:rPr>
                        <a:t>Dr. Tiago Magalhaes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Research Assistant</a:t>
                      </a:r>
                    </a:p>
                  </a:txBody>
                  <a:tcPr marL="91080" marR="91080">
                    <a:lnL w="9360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Faris Mahmoud</a:t>
                      </a:r>
                    </a:p>
                  </a:txBody>
                  <a:tcPr marL="91080" marR="910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191;p22">
            <a:extLst>
              <a:ext uri="{FF2B5EF4-FFF2-40B4-BE49-F238E27FC236}">
                <a16:creationId xmlns:a16="http://schemas.microsoft.com/office/drawing/2014/main" id="{365CEAC7-310F-D9FD-0BE7-1223ACDF3D39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Our Team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793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32"/>
          <p:cNvSpPr/>
          <p:nvPr/>
        </p:nvSpPr>
        <p:spPr>
          <a:xfrm>
            <a:off x="4400419" y="3235533"/>
            <a:ext cx="408276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2000" b="0" i="1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Human genome:</a:t>
            </a:r>
            <a:endParaRPr lang="en-US" sz="2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	- </a:t>
            </a:r>
            <a:r>
              <a:rPr lang="en-US" sz="2000" b="1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99.9% </a:t>
            </a:r>
            <a:r>
              <a:rPr lang="en-US" sz="20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identical </a:t>
            </a:r>
            <a:endParaRPr lang="en-US" sz="2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	- </a:t>
            </a:r>
            <a:r>
              <a:rPr lang="en-US" sz="2000" b="1" u="sng" strike="noStrike" spc="-1" dirty="0">
                <a:solidFill>
                  <a:srgbClr val="000000"/>
                </a:solidFill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0.1% </a:t>
            </a:r>
            <a:r>
              <a:rPr lang="en-US" sz="20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different </a:t>
            </a:r>
            <a:endParaRPr lang="en-US" sz="2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1" name="Picture 4" descr="Polygenic Risk Scores | ajma19's Site"/>
          <p:cNvPicPr/>
          <p:nvPr/>
        </p:nvPicPr>
        <p:blipFill>
          <a:blip r:embed="rId3"/>
          <a:srcRect t="9031" b="11571"/>
          <a:stretch/>
        </p:blipFill>
        <p:spPr>
          <a:xfrm>
            <a:off x="8082281" y="3383423"/>
            <a:ext cx="3075480" cy="1374840"/>
          </a:xfrm>
          <a:prstGeom prst="rect">
            <a:avLst/>
          </a:prstGeom>
          <a:ln w="0">
            <a:noFill/>
          </a:ln>
        </p:spPr>
      </p:pic>
      <p:grpSp>
        <p:nvGrpSpPr>
          <p:cNvPr id="152" name="Group 41"/>
          <p:cNvGrpSpPr/>
          <p:nvPr/>
        </p:nvGrpSpPr>
        <p:grpSpPr>
          <a:xfrm>
            <a:off x="262939" y="1785600"/>
            <a:ext cx="4286160" cy="4042440"/>
            <a:chOff x="125640" y="1437840"/>
            <a:chExt cx="4286160" cy="4042440"/>
          </a:xfrm>
        </p:grpSpPr>
        <p:grpSp>
          <p:nvGrpSpPr>
            <p:cNvPr id="153" name="Group 34"/>
            <p:cNvGrpSpPr/>
            <p:nvPr/>
          </p:nvGrpSpPr>
          <p:grpSpPr>
            <a:xfrm>
              <a:off x="125640" y="1437840"/>
              <a:ext cx="4286160" cy="4042440"/>
              <a:chOff x="125640" y="1437840"/>
              <a:chExt cx="4286160" cy="4042440"/>
            </a:xfrm>
          </p:grpSpPr>
          <p:grpSp>
            <p:nvGrpSpPr>
              <p:cNvPr id="154" name="Group 19"/>
              <p:cNvGrpSpPr/>
              <p:nvPr/>
            </p:nvGrpSpPr>
            <p:grpSpPr>
              <a:xfrm>
                <a:off x="125640" y="1437840"/>
                <a:ext cx="3501720" cy="3928680"/>
                <a:chOff x="125640" y="1437840"/>
                <a:chExt cx="3501720" cy="3928680"/>
              </a:xfrm>
            </p:grpSpPr>
            <p:grpSp>
              <p:nvGrpSpPr>
                <p:cNvPr id="155" name="Group 7"/>
                <p:cNvGrpSpPr/>
                <p:nvPr/>
              </p:nvGrpSpPr>
              <p:grpSpPr>
                <a:xfrm>
                  <a:off x="125640" y="1437840"/>
                  <a:ext cx="3027600" cy="3469320"/>
                  <a:chOff x="125640" y="1437840"/>
                  <a:chExt cx="3027600" cy="3469320"/>
                </a:xfrm>
              </p:grpSpPr>
              <p:grpSp>
                <p:nvGrpSpPr>
                  <p:cNvPr id="156" name="Group 5"/>
                  <p:cNvGrpSpPr/>
                  <p:nvPr/>
                </p:nvGrpSpPr>
                <p:grpSpPr>
                  <a:xfrm>
                    <a:off x="125640" y="1437840"/>
                    <a:ext cx="3027600" cy="3469320"/>
                    <a:chOff x="125640" y="1437840"/>
                    <a:chExt cx="3027600" cy="3469320"/>
                  </a:xfrm>
                </p:grpSpPr>
                <p:pic>
                  <p:nvPicPr>
                    <p:cNvPr id="157" name="Picture 2"/>
                    <p:cNvPicPr/>
                    <p:nvPr/>
                  </p:nvPicPr>
                  <p:blipFill>
                    <a:blip r:embed="rId4"/>
                    <a:srcRect t="11634" b="15758"/>
                    <a:stretch/>
                  </p:blipFill>
                  <p:spPr>
                    <a:xfrm flipH="1">
                      <a:off x="125640" y="1437840"/>
                      <a:ext cx="3027600" cy="3469320"/>
                    </a:xfrm>
                    <a:prstGeom prst="rect">
                      <a:avLst/>
                    </a:prstGeom>
                    <a:ln w="0">
                      <a:noFill/>
                    </a:ln>
                  </p:spPr>
                </p:pic>
                <p:sp>
                  <p:nvSpPr>
                    <p:cNvPr id="158" name="Rectangle 3"/>
                    <p:cNvSpPr/>
                    <p:nvPr/>
                  </p:nvSpPr>
                  <p:spPr>
                    <a:xfrm flipH="1">
                      <a:off x="1477800" y="2344320"/>
                      <a:ext cx="1577880" cy="149076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FFFF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strike="noStrike" spc="-1">
                        <a:solidFill>
                          <a:schemeClr val="lt1"/>
                        </a:solidFill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59" name="Rectangle 4"/>
                    <p:cNvSpPr/>
                    <p:nvPr/>
                  </p:nvSpPr>
                  <p:spPr>
                    <a:xfrm flipH="1">
                      <a:off x="955440" y="2769840"/>
                      <a:ext cx="1577880" cy="4464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FFFF"/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b="0" strike="noStrike" spc="-1">
                        <a:solidFill>
                          <a:schemeClr val="lt1"/>
                        </a:solidFill>
                        <a:latin typeface="Arial"/>
                        <a:ea typeface="Arial"/>
                      </a:endParaRPr>
                    </a:p>
                  </p:txBody>
                </p:sp>
              </p:grpSp>
              <p:sp>
                <p:nvSpPr>
                  <p:cNvPr id="160" name="Rectangle 6"/>
                  <p:cNvSpPr/>
                  <p:nvPr/>
                </p:nvSpPr>
                <p:spPr>
                  <a:xfrm rot="729600" flipH="1">
                    <a:off x="1931760" y="3947040"/>
                    <a:ext cx="187920" cy="4464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sz="1400" b="0" strike="noStrike" spc="-1">
                      <a:solidFill>
                        <a:schemeClr val="lt1"/>
                      </a:solidFill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61" name="TextBox 8"/>
                <p:cNvSpPr/>
                <p:nvPr/>
              </p:nvSpPr>
              <p:spPr>
                <a:xfrm>
                  <a:off x="2080080" y="2276640"/>
                  <a:ext cx="1547280" cy="30632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0" tIns="45000" rIns="90000" bIns="4500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400" b="1" strike="noStrike" spc="-1" dirty="0">
                      <a:solidFill>
                        <a:srgbClr val="000000"/>
                      </a:solidFill>
                      <a:latin typeface="Arial"/>
                      <a:ea typeface="Arial"/>
                    </a:rPr>
                    <a:t>Human body</a:t>
                  </a:r>
                  <a:endParaRPr lang="en-US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2" name="TextBox 9"/>
                <p:cNvSpPr/>
                <p:nvPr/>
              </p:nvSpPr>
              <p:spPr>
                <a:xfrm>
                  <a:off x="352439" y="1495800"/>
                  <a:ext cx="893893" cy="306323"/>
                </a:xfrm>
                <a:prstGeom prst="rect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0" tIns="45000" rIns="90000" bIns="4500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 b="1" strike="noStrike" spc="-1" dirty="0">
                      <a:solidFill>
                        <a:srgbClr val="000000"/>
                      </a:solidFill>
                      <a:latin typeface="Arial"/>
                      <a:ea typeface="Arial"/>
                    </a:rPr>
                    <a:t>Nucleus</a:t>
                  </a:r>
                  <a:endParaRPr lang="en-US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3" name="Rectangle 10"/>
                <p:cNvSpPr/>
                <p:nvPr/>
              </p:nvSpPr>
              <p:spPr>
                <a:xfrm flipH="1">
                  <a:off x="593280" y="3183120"/>
                  <a:ext cx="1065960" cy="6519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FFFF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sz="1600" b="0" strike="noStrike" spc="-1">
                    <a:solidFill>
                      <a:schemeClr val="lt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64" name="TextBox 11"/>
                <p:cNvSpPr/>
                <p:nvPr/>
              </p:nvSpPr>
              <p:spPr>
                <a:xfrm>
                  <a:off x="526320" y="3416760"/>
                  <a:ext cx="1404360" cy="306323"/>
                </a:xfrm>
                <a:prstGeom prst="rect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0" tIns="45000" rIns="90000" bIns="4500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 b="1" strike="noStrike" spc="-1" dirty="0">
                      <a:solidFill>
                        <a:srgbClr val="000000"/>
                      </a:solidFill>
                      <a:latin typeface="Arial"/>
                      <a:ea typeface="Arial"/>
                    </a:rPr>
                    <a:t>Chromosome</a:t>
                  </a:r>
                  <a:endParaRPr lang="en-US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5" name="Rectangle 12"/>
                <p:cNvSpPr/>
                <p:nvPr/>
              </p:nvSpPr>
              <p:spPr>
                <a:xfrm flipH="1">
                  <a:off x="2155320" y="4205160"/>
                  <a:ext cx="1065960" cy="6519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FFFF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sz="1400" b="0" strike="noStrike" spc="-1">
                    <a:solidFill>
                      <a:schemeClr val="lt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66" name="TextBox 13"/>
                <p:cNvSpPr/>
                <p:nvPr/>
              </p:nvSpPr>
              <p:spPr>
                <a:xfrm>
                  <a:off x="932400" y="5063400"/>
                  <a:ext cx="785160" cy="303120"/>
                </a:xfrm>
                <a:prstGeom prst="rect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 b="1" strike="noStrike" spc="-1">
                      <a:solidFill>
                        <a:srgbClr val="000000"/>
                      </a:solidFill>
                      <a:latin typeface="Arial"/>
                      <a:ea typeface="Arial"/>
                    </a:rPr>
                    <a:t>DNA</a:t>
                  </a: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7" name="Right Brace 15"/>
                <p:cNvSpPr/>
                <p:nvPr/>
              </p:nvSpPr>
              <p:spPr>
                <a:xfrm rot="16200000">
                  <a:off x="1679760" y="4075560"/>
                  <a:ext cx="321480" cy="403920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  <a:round/>
                </a:ln>
                <a:effectLst>
                  <a:outerShdw blurRad="39960" dist="20160" dir="5400000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sz="1400" b="0" strike="noStrike" spc="-1">
                    <a:solidFill>
                      <a:schemeClr val="dk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68" name="Right Brace 17"/>
                <p:cNvSpPr/>
                <p:nvPr/>
              </p:nvSpPr>
              <p:spPr>
                <a:xfrm rot="5400000">
                  <a:off x="1220760" y="4203360"/>
                  <a:ext cx="219600" cy="1498680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  <a:round/>
                </a:ln>
                <a:effectLst>
                  <a:outerShdw blurRad="39960" dist="20160" dir="5400000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sz="1400" b="0" strike="noStrike" spc="-1">
                    <a:solidFill>
                      <a:schemeClr val="dk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69" name="TextBox 18"/>
                <p:cNvSpPr/>
                <p:nvPr/>
              </p:nvSpPr>
              <p:spPr>
                <a:xfrm>
                  <a:off x="1474560" y="3933360"/>
                  <a:ext cx="758880" cy="303120"/>
                </a:xfrm>
                <a:prstGeom prst="rect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 b="1" strike="noStrike" spc="-1">
                      <a:solidFill>
                        <a:srgbClr val="000000"/>
                      </a:solidFill>
                      <a:latin typeface="Arial"/>
                      <a:ea typeface="Arial"/>
                    </a:rPr>
                    <a:t>Gene</a:t>
                  </a:r>
                  <a:endParaRPr lang="en-US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70" name="Group 20"/>
              <p:cNvGrpSpPr/>
              <p:nvPr/>
            </p:nvGrpSpPr>
            <p:grpSpPr>
              <a:xfrm>
                <a:off x="1854360" y="2714400"/>
                <a:ext cx="1791000" cy="1120680"/>
                <a:chOff x="1854360" y="2714400"/>
                <a:chExt cx="1791000" cy="1120680"/>
              </a:xfrm>
            </p:grpSpPr>
            <p:pic>
              <p:nvPicPr>
                <p:cNvPr id="171" name="Picture 2"/>
                <p:cNvPicPr/>
                <p:nvPr/>
              </p:nvPicPr>
              <p:blipFill>
                <a:blip r:embed="rId4"/>
                <a:srcRect l="3860" t="39885" r="40802" b="36617"/>
                <a:stretch/>
              </p:blipFill>
              <p:spPr>
                <a:xfrm>
                  <a:off x="1854360" y="2714400"/>
                  <a:ext cx="1577880" cy="1120680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172" name="Rectangle 22"/>
                <p:cNvSpPr/>
                <p:nvPr/>
              </p:nvSpPr>
              <p:spPr>
                <a:xfrm>
                  <a:off x="3373920" y="3194280"/>
                  <a:ext cx="271440" cy="559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FFFF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sz="1400" b="0" strike="noStrike" spc="-1">
                    <a:solidFill>
                      <a:schemeClr val="lt1"/>
                    </a:solidFill>
                    <a:latin typeface="Arial"/>
                    <a:ea typeface="Arial"/>
                  </a:endParaRPr>
                </a:p>
              </p:txBody>
            </p:sp>
            <p:sp>
              <p:nvSpPr>
                <p:cNvPr id="173" name="Rectangle 23"/>
                <p:cNvSpPr/>
                <p:nvPr/>
              </p:nvSpPr>
              <p:spPr>
                <a:xfrm>
                  <a:off x="1908000" y="2714400"/>
                  <a:ext cx="1402200" cy="120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FFFF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endParaRPr lang="en-US" sz="1400" b="0" strike="noStrike" spc="-1">
                    <a:solidFill>
                      <a:schemeClr val="lt1"/>
                    </a:solidFill>
                    <a:latin typeface="Arial"/>
                    <a:ea typeface="Arial"/>
                  </a:endParaRPr>
                </a:p>
              </p:txBody>
            </p:sp>
          </p:grpSp>
          <p:sp>
            <p:nvSpPr>
              <p:cNvPr id="174" name="TextBox 29"/>
              <p:cNvSpPr/>
              <p:nvPr/>
            </p:nvSpPr>
            <p:spPr>
              <a:xfrm>
                <a:off x="2434680" y="3790440"/>
                <a:ext cx="1977120" cy="1689840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rial"/>
                    <a:ea typeface="Arial"/>
                  </a:rPr>
                  <a:t>Nucleotides:</a:t>
                </a:r>
                <a:endParaRPr lang="en-US" sz="14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743040" lvl="1" indent="-285840">
                  <a:lnSpc>
                    <a:spcPct val="150000"/>
                  </a:lnSpc>
                  <a:buClr>
                    <a:srgbClr val="000000"/>
                  </a:buClr>
                  <a:buFont typeface="OpenSymbol"/>
                  <a:buChar char="-"/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rial"/>
                    <a:ea typeface="Arial"/>
                  </a:rPr>
                  <a:t>Cytosine</a:t>
                </a:r>
                <a:endParaRPr lang="en-US" sz="14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743040" lvl="1" indent="-285840">
                  <a:lnSpc>
                    <a:spcPct val="150000"/>
                  </a:lnSpc>
                  <a:buClr>
                    <a:srgbClr val="000000"/>
                  </a:buClr>
                  <a:buFont typeface="OpenSymbol"/>
                  <a:buChar char="-"/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rial"/>
                    <a:ea typeface="Arial"/>
                  </a:rPr>
                  <a:t>Guanine</a:t>
                </a:r>
                <a:endParaRPr lang="en-US" sz="14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743040" lvl="1" indent="-285840">
                  <a:lnSpc>
                    <a:spcPct val="150000"/>
                  </a:lnSpc>
                  <a:buClr>
                    <a:srgbClr val="000000"/>
                  </a:buClr>
                  <a:buFont typeface="OpenSymbol"/>
                  <a:buChar char="-"/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rial"/>
                    <a:ea typeface="Arial"/>
                  </a:rPr>
                  <a:t>Adenine</a:t>
                </a:r>
                <a:endParaRPr lang="en-US" sz="14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743040" lvl="1" indent="-285840">
                  <a:lnSpc>
                    <a:spcPct val="150000"/>
                  </a:lnSpc>
                  <a:buClr>
                    <a:srgbClr val="000000"/>
                  </a:buClr>
                  <a:buFont typeface="OpenSymbol"/>
                  <a:buChar char="-"/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rial"/>
                    <a:ea typeface="Arial"/>
                  </a:rPr>
                  <a:t>Thymine</a:t>
                </a:r>
                <a:endParaRPr lang="en-US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cxnSp>
          <p:nvCxnSpPr>
            <p:cNvPr id="175" name="Straight Arrow Connector 27"/>
            <p:cNvCxnSpPr/>
            <p:nvPr/>
          </p:nvCxnSpPr>
          <p:spPr>
            <a:xfrm flipV="1">
              <a:off x="2209680" y="3693600"/>
              <a:ext cx="174240" cy="510840"/>
            </a:xfrm>
            <a:prstGeom prst="straightConnector1">
              <a:avLst/>
            </a:prstGeom>
            <a:ln w="0">
              <a:solidFill>
                <a:srgbClr val="000000"/>
              </a:solidFill>
              <a:tailEnd type="triangle" w="med" len="med"/>
            </a:ln>
          </p:spPr>
        </p:cxnSp>
      </p:grpSp>
      <p:sp>
        <p:nvSpPr>
          <p:cNvPr id="176" name="TextBox 25"/>
          <p:cNvSpPr/>
          <p:nvPr/>
        </p:nvSpPr>
        <p:spPr>
          <a:xfrm>
            <a:off x="4424359" y="1229400"/>
            <a:ext cx="73033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b="1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Genetic Variant</a:t>
            </a:r>
            <a:r>
              <a:rPr lang="en-US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: D</a:t>
            </a:r>
            <a:r>
              <a:rPr lang="en-US" b="0" strike="noStrike" spc="-1" dirty="0">
                <a:solidFill>
                  <a:srgbClr val="212529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ifferences in DNA sequences when compared to a reference standard/genome. 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Box 30"/>
          <p:cNvSpPr/>
          <p:nvPr/>
        </p:nvSpPr>
        <p:spPr>
          <a:xfrm>
            <a:off x="4693450" y="2101860"/>
            <a:ext cx="37440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Common Variants: 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33"/>
          <p:cNvSpPr/>
          <p:nvPr/>
        </p:nvSpPr>
        <p:spPr>
          <a:xfrm>
            <a:off x="6931708" y="2032113"/>
            <a:ext cx="5155200" cy="10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1400" b="0" strike="noStrike" spc="-1" dirty="0">
                <a:solidFill>
                  <a:srgbClr val="212529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Single Nucleotide Polymorphisms (SNPs) </a:t>
            </a:r>
            <a:endParaRPr lang="en-US" sz="1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1400" b="0" strike="noStrike" spc="-1" dirty="0">
                <a:solidFill>
                  <a:srgbClr val="212529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Structural Variants (SVs)</a:t>
            </a:r>
            <a:endParaRPr lang="en-US" sz="1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1400" b="0" strike="noStrike" spc="-1" dirty="0">
                <a:solidFill>
                  <a:srgbClr val="212529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Insertions and deletions (indels)</a:t>
            </a:r>
            <a:endParaRPr lang="en-US" sz="1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TextBox 1"/>
          <p:cNvSpPr/>
          <p:nvPr/>
        </p:nvSpPr>
        <p:spPr>
          <a:xfrm>
            <a:off x="4246879" y="5204880"/>
            <a:ext cx="7658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algn="ctr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How do we know which variant is responsible for causing a disease?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982480" y="5863866"/>
            <a:ext cx="445932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Variant Prioritization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61E29FB2-062E-B014-019D-FF1DBACD973E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What are Genomic Variants?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9976-B294-0D2C-F253-4A7F5921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>
            <a:extLst>
              <a:ext uri="{FF2B5EF4-FFF2-40B4-BE49-F238E27FC236}">
                <a16:creationId xmlns:a16="http://schemas.microsoft.com/office/drawing/2014/main" id="{214708B1-39ED-41EA-D1BB-7C3F6B9E6B28}"/>
              </a:ext>
            </a:extLst>
          </p:cNvPr>
          <p:cNvSpPr txBox="1">
            <a:spLocks/>
          </p:cNvSpPr>
          <p:nvPr/>
        </p:nvSpPr>
        <p:spPr>
          <a:xfrm>
            <a:off x="360000" y="2445310"/>
            <a:ext cx="6073920" cy="368863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GB" sz="1800" b="1" u="sng" spc="-1" dirty="0">
                <a:solidFill>
                  <a:schemeClr val="dk2"/>
                </a:solidFill>
                <a:latin typeface="Arial"/>
                <a:ea typeface="Arial"/>
              </a:rPr>
              <a:t>Tertiary Analysis Challenges:</a:t>
            </a:r>
          </a:p>
          <a:p>
            <a:pPr indent="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800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chemeClr val="dk2"/>
                </a:solidFill>
                <a:latin typeface="Arial"/>
                <a:ea typeface="Arial"/>
              </a:rPr>
              <a:t>Time (Manual Analysis):</a:t>
            </a:r>
            <a:endParaRPr lang="en-US" sz="18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GB" sz="1800" spc="-1" dirty="0">
                <a:solidFill>
                  <a:schemeClr val="dk1"/>
                </a:solidFill>
                <a:latin typeface="Arial"/>
                <a:ea typeface="Arial"/>
              </a:rPr>
              <a:t>Up to 7 hours per case</a:t>
            </a: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800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chemeClr val="dk2"/>
                </a:solidFill>
                <a:latin typeface="Arial"/>
                <a:ea typeface="Arial"/>
              </a:rPr>
              <a:t>Cost (Commercial Solutions):</a:t>
            </a:r>
            <a:endParaRPr lang="en-US" sz="18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GB" sz="1800" spc="-1" dirty="0">
                <a:solidFill>
                  <a:schemeClr val="dk1"/>
                </a:solidFill>
                <a:latin typeface="Arial"/>
                <a:ea typeface="Arial"/>
              </a:rPr>
              <a:t>Hundreds of dollars per analysis</a:t>
            </a: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800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chemeClr val="dk2"/>
                </a:solidFill>
                <a:latin typeface="Arial"/>
                <a:ea typeface="Arial"/>
              </a:rPr>
              <a:t>Data Privacy (Online Tools):</a:t>
            </a:r>
            <a:endParaRPr lang="en-US" sz="18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GB" sz="1800" spc="-1" dirty="0">
                <a:solidFill>
                  <a:schemeClr val="dk1"/>
                </a:solidFill>
                <a:latin typeface="Arial"/>
                <a:ea typeface="Arial"/>
              </a:rPr>
              <a:t>Potential privacy and accessibility concerns with closed-source platforms</a:t>
            </a:r>
            <a:endParaRPr lang="en-US" sz="18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oogle Shape;193;p22">
            <a:extLst>
              <a:ext uri="{FF2B5EF4-FFF2-40B4-BE49-F238E27FC236}">
                <a16:creationId xmlns:a16="http://schemas.microsoft.com/office/drawing/2014/main" id="{020C02D7-2D65-99C4-870C-6361F7EACE3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96810" y="1112526"/>
            <a:ext cx="6090840" cy="1094400"/>
          </a:xfrm>
          <a:prstGeom prst="rect">
            <a:avLst/>
          </a:prstGeom>
          <a:ln w="0">
            <a:noFill/>
          </a:ln>
        </p:spPr>
      </p:pic>
      <p:grpSp>
        <p:nvGrpSpPr>
          <p:cNvPr id="5" name="Group 9">
            <a:extLst>
              <a:ext uri="{FF2B5EF4-FFF2-40B4-BE49-F238E27FC236}">
                <a16:creationId xmlns:a16="http://schemas.microsoft.com/office/drawing/2014/main" id="{B45B3DF0-AE44-716D-9352-7F692C95D90E}"/>
              </a:ext>
            </a:extLst>
          </p:cNvPr>
          <p:cNvGrpSpPr/>
          <p:nvPr/>
        </p:nvGrpSpPr>
        <p:grpSpPr>
          <a:xfrm>
            <a:off x="6433920" y="441360"/>
            <a:ext cx="5664960" cy="6177960"/>
            <a:chOff x="6433920" y="559080"/>
            <a:chExt cx="5664960" cy="6177960"/>
          </a:xfrm>
        </p:grpSpPr>
        <p:pic>
          <p:nvPicPr>
            <p:cNvPr id="6" name="Google Shape;190;p22">
              <a:extLst>
                <a:ext uri="{FF2B5EF4-FFF2-40B4-BE49-F238E27FC236}">
                  <a16:creationId xmlns:a16="http://schemas.microsoft.com/office/drawing/2014/main" id="{3B290E7C-10CD-4547-524E-2BA31ED5F449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6433920" y="559080"/>
              <a:ext cx="5545800" cy="6105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D41052CF-A230-EAD9-5477-F78F9FEFBAC6}"/>
                </a:ext>
              </a:extLst>
            </p:cNvPr>
            <p:cNvSpPr/>
            <p:nvPr/>
          </p:nvSpPr>
          <p:spPr>
            <a:xfrm>
              <a:off x="9177120" y="2848320"/>
              <a:ext cx="2921760" cy="388872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400" b="0" strike="noStrike" spc="-1">
                <a:solidFill>
                  <a:schemeClr val="lt1"/>
                </a:solidFill>
                <a:latin typeface="Arial"/>
                <a:ea typeface="Arial"/>
              </a:endParaRPr>
            </a:p>
          </p:txBody>
        </p:sp>
      </p:grpSp>
      <p:sp>
        <p:nvSpPr>
          <p:cNvPr id="9" name="Google Shape;191;p22">
            <a:extLst>
              <a:ext uri="{FF2B5EF4-FFF2-40B4-BE49-F238E27FC236}">
                <a16:creationId xmlns:a16="http://schemas.microsoft.com/office/drawing/2014/main" id="{44C182F0-1367-7825-4D4D-ED5287C4AC9D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Problem Statement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828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6"/>
          <p:cNvSpPr/>
          <p:nvPr/>
        </p:nvSpPr>
        <p:spPr>
          <a:xfrm>
            <a:off x="510360" y="1763820"/>
            <a:ext cx="9436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algn="ctr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Variant prioritization: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 process of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ranking genetic variants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based on their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likelihood of being disease-causing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192;p22"/>
          <p:cNvSpPr/>
          <p:nvPr/>
        </p:nvSpPr>
        <p:spPr>
          <a:xfrm>
            <a:off x="601369" y="1203156"/>
            <a:ext cx="24235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800" b="1" strike="noStrike" spc="-1" dirty="0">
                <a:solidFill>
                  <a:schemeClr val="dk2"/>
                </a:solidFill>
                <a:latin typeface="Arial"/>
                <a:ea typeface="Arial"/>
              </a:rPr>
              <a:t>What is it?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algn="ctr">
              <a:lnSpc>
                <a:spcPct val="115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800" b="1" strike="noStrike" spc="-1" dirty="0">
                <a:solidFill>
                  <a:schemeClr val="dk2"/>
                </a:solidFill>
                <a:latin typeface="Arial"/>
                <a:ea typeface="Arial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192;p22"/>
          <p:cNvSpPr/>
          <p:nvPr/>
        </p:nvSpPr>
        <p:spPr>
          <a:xfrm>
            <a:off x="601369" y="2550264"/>
            <a:ext cx="24235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800" b="1" strike="noStrike" spc="-1" dirty="0">
                <a:solidFill>
                  <a:schemeClr val="dk2"/>
                </a:solidFill>
                <a:latin typeface="Arial"/>
                <a:ea typeface="Arial"/>
              </a:rPr>
              <a:t>Criteria used?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algn="ctr">
              <a:lnSpc>
                <a:spcPct val="115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800" b="1" strike="noStrike" spc="-1" dirty="0">
                <a:solidFill>
                  <a:schemeClr val="dk2"/>
                </a:solidFill>
                <a:latin typeface="Arial"/>
                <a:ea typeface="Arial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692280" y="3164040"/>
            <a:ext cx="4012200" cy="313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2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Phenotype Matching</a:t>
            </a: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2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Pathogenicity Scores</a:t>
            </a: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2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Allele Frequency</a:t>
            </a: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2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Inheritance Mode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2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Gene-Disease Associations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Table 11"/>
          <p:cNvGraphicFramePr/>
          <p:nvPr/>
        </p:nvGraphicFramePr>
        <p:xfrm>
          <a:off x="4287600" y="2980080"/>
          <a:ext cx="7394760" cy="3033887"/>
        </p:xfrm>
        <a:graphic>
          <a:graphicData uri="http://schemas.openxmlformats.org/drawingml/2006/table">
            <a:tbl>
              <a:tblPr/>
              <a:tblGrid>
                <a:gridCol w="145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Tool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Key Features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Exomiser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variant pathogenicity with phenotype-genotype links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2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LIRICAL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Uses likelihood ratios to assess phenotype-genotype fit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2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AMELIE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0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Literature-based phenotype-to-gene ranking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2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1" strike="noStrike" spc="-1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PhenIX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Prioritizes based on phenotype ontology and variant severity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7" name="Picture 4" descr="PRIORITIZE Vector Icons free download in SVG, PNG Format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9768240" y="636480"/>
            <a:ext cx="1913400" cy="1913400"/>
          </a:xfrm>
          <a:prstGeom prst="rect">
            <a:avLst/>
          </a:prstGeom>
          <a:ln w="0">
            <a:noFill/>
          </a:ln>
        </p:spPr>
      </p:pic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EE8BE135-98AE-BABD-3C6D-617B29684BEB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Variant Prioritization 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roup 39"/>
          <p:cNvGrpSpPr/>
          <p:nvPr/>
        </p:nvGrpSpPr>
        <p:grpSpPr>
          <a:xfrm>
            <a:off x="3416040" y="1566000"/>
            <a:ext cx="5152320" cy="4378320"/>
            <a:chOff x="3416040" y="1566000"/>
            <a:chExt cx="5152320" cy="4378320"/>
          </a:xfrm>
        </p:grpSpPr>
        <p:grpSp>
          <p:nvGrpSpPr>
            <p:cNvPr id="206" name="Google Shape;2787;p43"/>
            <p:cNvGrpSpPr/>
            <p:nvPr/>
          </p:nvGrpSpPr>
          <p:grpSpPr>
            <a:xfrm>
              <a:off x="3416040" y="1566000"/>
              <a:ext cx="5152320" cy="4378320"/>
              <a:chOff x="3416040" y="1566000"/>
              <a:chExt cx="5152320" cy="4378320"/>
            </a:xfrm>
          </p:grpSpPr>
          <p:sp>
            <p:nvSpPr>
              <p:cNvPr id="207" name="Google Shape;2788;p43"/>
              <p:cNvSpPr/>
              <p:nvPr/>
            </p:nvSpPr>
            <p:spPr>
              <a:xfrm>
                <a:off x="3416040" y="2663280"/>
                <a:ext cx="2346480" cy="2171520"/>
              </a:xfrm>
              <a:custGeom>
                <a:avLst/>
                <a:gdLst>
                  <a:gd name="textAreaLeft" fmla="*/ 0 w 2346480"/>
                  <a:gd name="textAreaRight" fmla="*/ 2347560 w 2346480"/>
                  <a:gd name="textAreaTop" fmla="*/ 0 h 2171520"/>
                  <a:gd name="textAreaBottom" fmla="*/ 2172600 h 2171520"/>
                </a:gdLst>
                <a:ahLst/>
                <a:cxnLst/>
                <a:rect l="textAreaLeft" t="textAreaTop" r="textAreaRight" b="textAreaBottom"/>
                <a:pathLst>
                  <a:path w="5483" h="5861">
                    <a:moveTo>
                      <a:pt x="2584" y="1"/>
                    </a:moveTo>
                    <a:lnTo>
                      <a:pt x="410" y="2206"/>
                    </a:lnTo>
                    <a:cubicBezTo>
                      <a:pt x="1" y="2615"/>
                      <a:pt x="1" y="3277"/>
                      <a:pt x="410" y="3655"/>
                    </a:cubicBezTo>
                    <a:lnTo>
                      <a:pt x="2584" y="5860"/>
                    </a:lnTo>
                    <a:lnTo>
                      <a:pt x="3781" y="4632"/>
                    </a:lnTo>
                    <a:cubicBezTo>
                      <a:pt x="3844" y="4584"/>
                      <a:pt x="3939" y="4561"/>
                      <a:pt x="4029" y="4561"/>
                    </a:cubicBezTo>
                    <a:cubicBezTo>
                      <a:pt x="4120" y="4561"/>
                      <a:pt x="4206" y="4584"/>
                      <a:pt x="4254" y="4632"/>
                    </a:cubicBezTo>
                    <a:lnTo>
                      <a:pt x="4726" y="5104"/>
                    </a:lnTo>
                    <a:cubicBezTo>
                      <a:pt x="4789" y="5167"/>
                      <a:pt x="4884" y="5199"/>
                      <a:pt x="4974" y="5199"/>
                    </a:cubicBezTo>
                    <a:cubicBezTo>
                      <a:pt x="5065" y="5199"/>
                      <a:pt x="5152" y="5167"/>
                      <a:pt x="5199" y="5104"/>
                    </a:cubicBezTo>
                    <a:cubicBezTo>
                      <a:pt x="5325" y="5010"/>
                      <a:pt x="5325" y="4758"/>
                      <a:pt x="5199" y="4632"/>
                    </a:cubicBezTo>
                    <a:lnTo>
                      <a:pt x="4726" y="4159"/>
                    </a:lnTo>
                    <a:cubicBezTo>
                      <a:pt x="4632" y="4065"/>
                      <a:pt x="4632" y="3813"/>
                      <a:pt x="4726" y="3687"/>
                    </a:cubicBezTo>
                    <a:lnTo>
                      <a:pt x="5482" y="2962"/>
                    </a:lnTo>
                    <a:lnTo>
                      <a:pt x="5010" y="2489"/>
                    </a:lnTo>
                    <a:lnTo>
                      <a:pt x="4789" y="2710"/>
                    </a:lnTo>
                    <a:cubicBezTo>
                      <a:pt x="4584" y="2915"/>
                      <a:pt x="4317" y="3017"/>
                      <a:pt x="4049" y="3017"/>
                    </a:cubicBezTo>
                    <a:cubicBezTo>
                      <a:pt x="3781" y="3017"/>
                      <a:pt x="3513" y="2915"/>
                      <a:pt x="3309" y="2710"/>
                    </a:cubicBezTo>
                    <a:cubicBezTo>
                      <a:pt x="2930" y="2332"/>
                      <a:pt x="2930" y="1670"/>
                      <a:pt x="3309" y="1261"/>
                    </a:cubicBezTo>
                    <a:lnTo>
                      <a:pt x="3561" y="1040"/>
                    </a:lnTo>
                    <a:lnTo>
                      <a:pt x="2584" y="1"/>
                    </a:lnTo>
                    <a:close/>
                  </a:path>
                </a:pathLst>
              </a:custGeom>
              <a:solidFill>
                <a:srgbClr val="4182E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08" name="Google Shape;2789;p43"/>
              <p:cNvSpPr/>
              <p:nvPr/>
            </p:nvSpPr>
            <p:spPr>
              <a:xfrm>
                <a:off x="4738320" y="1566000"/>
                <a:ext cx="2494800" cy="1984320"/>
              </a:xfrm>
              <a:custGeom>
                <a:avLst/>
                <a:gdLst>
                  <a:gd name="textAreaLeft" fmla="*/ 0 w 2494800"/>
                  <a:gd name="textAreaRight" fmla="*/ 2495880 w 2494800"/>
                  <a:gd name="textAreaTop" fmla="*/ 0 h 1984320"/>
                  <a:gd name="textAreaBottom" fmla="*/ 1985400 h 1984320"/>
                </a:gdLst>
                <a:ahLst/>
                <a:cxnLst/>
                <a:rect l="textAreaLeft" t="textAreaTop" r="textAreaRight" b="textAreaBottom"/>
                <a:pathLst>
                  <a:path w="5829" h="5356">
                    <a:moveTo>
                      <a:pt x="2926" y="0"/>
                    </a:moveTo>
                    <a:cubicBezTo>
                      <a:pt x="2662" y="0"/>
                      <a:pt x="2394" y="95"/>
                      <a:pt x="2205" y="284"/>
                    </a:cubicBezTo>
                    <a:lnTo>
                      <a:pt x="0" y="2457"/>
                    </a:lnTo>
                    <a:lnTo>
                      <a:pt x="1229" y="3686"/>
                    </a:lnTo>
                    <a:cubicBezTo>
                      <a:pt x="1323" y="3781"/>
                      <a:pt x="1323" y="4033"/>
                      <a:pt x="1229" y="4127"/>
                    </a:cubicBezTo>
                    <a:lnTo>
                      <a:pt x="725" y="4600"/>
                    </a:lnTo>
                    <a:cubicBezTo>
                      <a:pt x="630" y="4726"/>
                      <a:pt x="630" y="4978"/>
                      <a:pt x="725" y="5072"/>
                    </a:cubicBezTo>
                    <a:cubicBezTo>
                      <a:pt x="788" y="5135"/>
                      <a:pt x="882" y="5167"/>
                      <a:pt x="977" y="5167"/>
                    </a:cubicBezTo>
                    <a:cubicBezTo>
                      <a:pt x="1071" y="5167"/>
                      <a:pt x="1166" y="5135"/>
                      <a:pt x="1229" y="5072"/>
                    </a:cubicBezTo>
                    <a:lnTo>
                      <a:pt x="1701" y="4600"/>
                    </a:lnTo>
                    <a:cubicBezTo>
                      <a:pt x="1749" y="4553"/>
                      <a:pt x="1835" y="4529"/>
                      <a:pt x="1926" y="4529"/>
                    </a:cubicBezTo>
                    <a:cubicBezTo>
                      <a:pt x="2016" y="4529"/>
                      <a:pt x="2111" y="4553"/>
                      <a:pt x="2174" y="4600"/>
                    </a:cubicBezTo>
                    <a:lnTo>
                      <a:pt x="2898" y="5356"/>
                    </a:lnTo>
                    <a:lnTo>
                      <a:pt x="3371" y="4883"/>
                    </a:lnTo>
                    <a:lnTo>
                      <a:pt x="3151" y="4663"/>
                    </a:lnTo>
                    <a:cubicBezTo>
                      <a:pt x="2741" y="4253"/>
                      <a:pt x="2741" y="3592"/>
                      <a:pt x="3151" y="3214"/>
                    </a:cubicBezTo>
                    <a:cubicBezTo>
                      <a:pt x="3340" y="3009"/>
                      <a:pt x="3607" y="2906"/>
                      <a:pt x="3875" y="2906"/>
                    </a:cubicBezTo>
                    <a:cubicBezTo>
                      <a:pt x="4143" y="2906"/>
                      <a:pt x="4411" y="3009"/>
                      <a:pt x="4600" y="3214"/>
                    </a:cubicBezTo>
                    <a:lnTo>
                      <a:pt x="4852" y="3434"/>
                    </a:lnTo>
                    <a:lnTo>
                      <a:pt x="5828" y="2457"/>
                    </a:lnTo>
                    <a:lnTo>
                      <a:pt x="3623" y="284"/>
                    </a:lnTo>
                    <a:cubicBezTo>
                      <a:pt x="3450" y="95"/>
                      <a:pt x="3190" y="0"/>
                      <a:pt x="292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09" name="Google Shape;2790;p43"/>
              <p:cNvSpPr/>
              <p:nvPr/>
            </p:nvSpPr>
            <p:spPr>
              <a:xfrm>
                <a:off x="6221880" y="2663280"/>
                <a:ext cx="2346480" cy="2159640"/>
              </a:xfrm>
              <a:custGeom>
                <a:avLst/>
                <a:gdLst>
                  <a:gd name="textAreaLeft" fmla="*/ 0 w 2346480"/>
                  <a:gd name="textAreaRight" fmla="*/ 2347560 w 2346480"/>
                  <a:gd name="textAreaTop" fmla="*/ 0 h 2159640"/>
                  <a:gd name="textAreaBottom" fmla="*/ 2160720 h 2159640"/>
                </a:gdLst>
                <a:ahLst/>
                <a:cxnLst/>
                <a:rect l="textAreaLeft" t="textAreaTop" r="textAreaRight" b="textAreaBottom"/>
                <a:pathLst>
                  <a:path w="5483" h="5829">
                    <a:moveTo>
                      <a:pt x="2899" y="1"/>
                    </a:moveTo>
                    <a:lnTo>
                      <a:pt x="1702" y="1229"/>
                    </a:lnTo>
                    <a:cubicBezTo>
                      <a:pt x="1639" y="1292"/>
                      <a:pt x="1544" y="1324"/>
                      <a:pt x="1450" y="1324"/>
                    </a:cubicBezTo>
                    <a:cubicBezTo>
                      <a:pt x="1355" y="1324"/>
                      <a:pt x="1261" y="1292"/>
                      <a:pt x="1198" y="1229"/>
                    </a:cubicBezTo>
                    <a:lnTo>
                      <a:pt x="725" y="757"/>
                    </a:lnTo>
                    <a:cubicBezTo>
                      <a:pt x="678" y="694"/>
                      <a:pt x="591" y="662"/>
                      <a:pt x="501" y="662"/>
                    </a:cubicBezTo>
                    <a:cubicBezTo>
                      <a:pt x="410" y="662"/>
                      <a:pt x="316" y="694"/>
                      <a:pt x="253" y="757"/>
                    </a:cubicBezTo>
                    <a:cubicBezTo>
                      <a:pt x="158" y="883"/>
                      <a:pt x="158" y="1103"/>
                      <a:pt x="253" y="1229"/>
                    </a:cubicBezTo>
                    <a:lnTo>
                      <a:pt x="725" y="1702"/>
                    </a:lnTo>
                    <a:cubicBezTo>
                      <a:pt x="851" y="1828"/>
                      <a:pt x="851" y="2048"/>
                      <a:pt x="725" y="2174"/>
                    </a:cubicBezTo>
                    <a:lnTo>
                      <a:pt x="1" y="2899"/>
                    </a:lnTo>
                    <a:lnTo>
                      <a:pt x="473" y="3372"/>
                    </a:lnTo>
                    <a:lnTo>
                      <a:pt x="694" y="3151"/>
                    </a:lnTo>
                    <a:cubicBezTo>
                      <a:pt x="898" y="2946"/>
                      <a:pt x="1166" y="2844"/>
                      <a:pt x="1434" y="2844"/>
                    </a:cubicBezTo>
                    <a:cubicBezTo>
                      <a:pt x="1702" y="2844"/>
                      <a:pt x="1970" y="2946"/>
                      <a:pt x="2174" y="3151"/>
                    </a:cubicBezTo>
                    <a:cubicBezTo>
                      <a:pt x="2552" y="3529"/>
                      <a:pt x="2552" y="4222"/>
                      <a:pt x="2174" y="4600"/>
                    </a:cubicBezTo>
                    <a:lnTo>
                      <a:pt x="1922" y="4852"/>
                    </a:lnTo>
                    <a:lnTo>
                      <a:pt x="2899" y="5829"/>
                    </a:lnTo>
                    <a:lnTo>
                      <a:pt x="5073" y="3655"/>
                    </a:lnTo>
                    <a:cubicBezTo>
                      <a:pt x="5482" y="3277"/>
                      <a:pt x="5482" y="2615"/>
                      <a:pt x="5073" y="2206"/>
                    </a:cubicBezTo>
                    <a:lnTo>
                      <a:pt x="2899" y="1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10" name="Google Shape;2791;p43"/>
              <p:cNvSpPr/>
              <p:nvPr/>
            </p:nvSpPr>
            <p:spPr>
              <a:xfrm>
                <a:off x="4738320" y="3948120"/>
                <a:ext cx="2521440" cy="1996200"/>
              </a:xfrm>
              <a:custGeom>
                <a:avLst/>
                <a:gdLst>
                  <a:gd name="textAreaLeft" fmla="*/ 0 w 2521440"/>
                  <a:gd name="textAreaRight" fmla="*/ 2522520 w 2521440"/>
                  <a:gd name="textAreaTop" fmla="*/ 0 h 1996200"/>
                  <a:gd name="textAreaBottom" fmla="*/ 1997280 h 1996200"/>
                </a:gdLst>
                <a:ahLst/>
                <a:cxnLst/>
                <a:rect l="textAreaLeft" t="textAreaTop" r="textAreaRight" b="textAreaBottom"/>
                <a:pathLst>
                  <a:path w="5892" h="5388">
                    <a:moveTo>
                      <a:pt x="2993" y="0"/>
                    </a:moveTo>
                    <a:lnTo>
                      <a:pt x="2520" y="473"/>
                    </a:lnTo>
                    <a:lnTo>
                      <a:pt x="2741" y="725"/>
                    </a:lnTo>
                    <a:cubicBezTo>
                      <a:pt x="3151" y="1103"/>
                      <a:pt x="3151" y="1764"/>
                      <a:pt x="2741" y="2174"/>
                    </a:cubicBezTo>
                    <a:cubicBezTo>
                      <a:pt x="2505" y="2363"/>
                      <a:pt x="2221" y="2457"/>
                      <a:pt x="1949" y="2457"/>
                    </a:cubicBezTo>
                    <a:cubicBezTo>
                      <a:pt x="1678" y="2457"/>
                      <a:pt x="1418" y="2363"/>
                      <a:pt x="1229" y="2174"/>
                    </a:cubicBezTo>
                    <a:lnTo>
                      <a:pt x="977" y="1922"/>
                    </a:lnTo>
                    <a:lnTo>
                      <a:pt x="0" y="2930"/>
                    </a:lnTo>
                    <a:lnTo>
                      <a:pt x="2205" y="5072"/>
                    </a:lnTo>
                    <a:cubicBezTo>
                      <a:pt x="2394" y="5293"/>
                      <a:pt x="2678" y="5387"/>
                      <a:pt x="2930" y="5387"/>
                    </a:cubicBezTo>
                    <a:cubicBezTo>
                      <a:pt x="3214" y="5387"/>
                      <a:pt x="3497" y="5293"/>
                      <a:pt x="3686" y="5072"/>
                    </a:cubicBezTo>
                    <a:lnTo>
                      <a:pt x="5891" y="2930"/>
                    </a:lnTo>
                    <a:lnTo>
                      <a:pt x="4663" y="1701"/>
                    </a:lnTo>
                    <a:cubicBezTo>
                      <a:pt x="4568" y="1575"/>
                      <a:pt x="4568" y="1355"/>
                      <a:pt x="4663" y="1229"/>
                    </a:cubicBezTo>
                    <a:lnTo>
                      <a:pt x="5167" y="756"/>
                    </a:lnTo>
                    <a:cubicBezTo>
                      <a:pt x="5261" y="630"/>
                      <a:pt x="5261" y="410"/>
                      <a:pt x="5167" y="284"/>
                    </a:cubicBezTo>
                    <a:cubicBezTo>
                      <a:pt x="5104" y="221"/>
                      <a:pt x="5009" y="189"/>
                      <a:pt x="4915" y="189"/>
                    </a:cubicBezTo>
                    <a:cubicBezTo>
                      <a:pt x="4820" y="189"/>
                      <a:pt x="4726" y="221"/>
                      <a:pt x="4663" y="284"/>
                    </a:cubicBezTo>
                    <a:lnTo>
                      <a:pt x="4190" y="756"/>
                    </a:lnTo>
                    <a:cubicBezTo>
                      <a:pt x="4143" y="819"/>
                      <a:pt x="4056" y="851"/>
                      <a:pt x="3966" y="851"/>
                    </a:cubicBezTo>
                    <a:cubicBezTo>
                      <a:pt x="3875" y="851"/>
                      <a:pt x="3781" y="819"/>
                      <a:pt x="3718" y="756"/>
                    </a:cubicBezTo>
                    <a:lnTo>
                      <a:pt x="2993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sp>
          <p:nvSpPr>
            <p:cNvPr id="211" name="Google Shape;2792;p43"/>
            <p:cNvSpPr/>
            <p:nvPr/>
          </p:nvSpPr>
          <p:spPr>
            <a:xfrm>
              <a:off x="5573880" y="1902240"/>
              <a:ext cx="836280" cy="55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FFFFFF"/>
                  </a:solidFill>
                  <a:latin typeface="Fira Sans Extra Condensed"/>
                  <a:ea typeface="Fira Sans Extra Condensed"/>
                </a:rPr>
                <a:t>01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Google Shape;2793;p43"/>
            <p:cNvSpPr/>
            <p:nvPr/>
          </p:nvSpPr>
          <p:spPr>
            <a:xfrm>
              <a:off x="5573880" y="5050440"/>
              <a:ext cx="836280" cy="55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FFFFFF"/>
                  </a:solidFill>
                  <a:latin typeface="Fira Sans Extra Condensed"/>
                  <a:ea typeface="Fira Sans Extra Condensed"/>
                </a:rPr>
                <a:t>03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Google Shape;2794;p43"/>
            <p:cNvSpPr/>
            <p:nvPr/>
          </p:nvSpPr>
          <p:spPr>
            <a:xfrm>
              <a:off x="3780000" y="3412440"/>
              <a:ext cx="836280" cy="55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FFFFFF"/>
                  </a:solidFill>
                  <a:latin typeface="Fira Sans Extra Condensed"/>
                  <a:ea typeface="Fira Sans Extra Condensed"/>
                </a:rPr>
                <a:t>02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Google Shape;2795;p43"/>
            <p:cNvSpPr/>
            <p:nvPr/>
          </p:nvSpPr>
          <p:spPr>
            <a:xfrm>
              <a:off x="7368480" y="3412440"/>
              <a:ext cx="836280" cy="55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FFFFFF"/>
                  </a:solidFill>
                  <a:latin typeface="Fira Sans Extra Condensed"/>
                  <a:ea typeface="Fira Sans Extra Condensed"/>
                </a:rPr>
                <a:t>04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" name="Google Shape;2800;p43"/>
          <p:cNvGrpSpPr/>
          <p:nvPr/>
        </p:nvGrpSpPr>
        <p:grpSpPr>
          <a:xfrm>
            <a:off x="484920" y="3600000"/>
            <a:ext cx="1380960" cy="180000"/>
            <a:chOff x="484920" y="3600000"/>
            <a:chExt cx="1380960" cy="180000"/>
          </a:xfrm>
        </p:grpSpPr>
        <p:sp>
          <p:nvSpPr>
            <p:cNvPr id="216" name="Google Shape;2801;p43"/>
            <p:cNvSpPr/>
            <p:nvPr/>
          </p:nvSpPr>
          <p:spPr>
            <a:xfrm>
              <a:off x="484920" y="3652920"/>
              <a:ext cx="1380960" cy="73800"/>
            </a:xfrm>
            <a:prstGeom prst="rect">
              <a:avLst/>
            </a:prstGeom>
            <a:solidFill>
              <a:srgbClr val="D9D9D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7080" rIns="9000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7" name="Google Shape;2802;p43"/>
            <p:cNvSpPr/>
            <p:nvPr/>
          </p:nvSpPr>
          <p:spPr>
            <a:xfrm>
              <a:off x="484920" y="3600000"/>
              <a:ext cx="676800" cy="18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0" rIns="90000" bIns="90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18" name="Google Shape;2808;p43"/>
          <p:cNvGrpSpPr/>
          <p:nvPr/>
        </p:nvGrpSpPr>
        <p:grpSpPr>
          <a:xfrm>
            <a:off x="2536200" y="6282000"/>
            <a:ext cx="1380960" cy="180000"/>
            <a:chOff x="2536200" y="6282000"/>
            <a:chExt cx="1380960" cy="180000"/>
          </a:xfrm>
        </p:grpSpPr>
        <p:sp>
          <p:nvSpPr>
            <p:cNvPr id="219" name="Google Shape;2809;p43"/>
            <p:cNvSpPr/>
            <p:nvPr/>
          </p:nvSpPr>
          <p:spPr>
            <a:xfrm>
              <a:off x="2536200" y="6334920"/>
              <a:ext cx="1380960" cy="73800"/>
            </a:xfrm>
            <a:prstGeom prst="rect">
              <a:avLst/>
            </a:prstGeom>
            <a:solidFill>
              <a:srgbClr val="D9D9D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7080" rIns="9000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0" name="Google Shape;2810;p43"/>
            <p:cNvSpPr/>
            <p:nvPr/>
          </p:nvSpPr>
          <p:spPr>
            <a:xfrm>
              <a:off x="2536200" y="6282000"/>
              <a:ext cx="1042200" cy="180000"/>
            </a:xfrm>
            <a:prstGeom prst="rect">
              <a:avLst/>
            </a:prstGeom>
            <a:solidFill>
              <a:srgbClr val="4182E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0" rIns="90000" bIns="90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21" name="Google Shape;2815;p43"/>
          <p:cNvGrpSpPr/>
          <p:nvPr/>
        </p:nvGrpSpPr>
        <p:grpSpPr>
          <a:xfrm>
            <a:off x="9873360" y="3599280"/>
            <a:ext cx="1380960" cy="180000"/>
            <a:chOff x="9873360" y="3599280"/>
            <a:chExt cx="1380960" cy="180000"/>
          </a:xfrm>
        </p:grpSpPr>
        <p:sp>
          <p:nvSpPr>
            <p:cNvPr id="222" name="Google Shape;2816;p43"/>
            <p:cNvSpPr/>
            <p:nvPr/>
          </p:nvSpPr>
          <p:spPr>
            <a:xfrm rot="10800000">
              <a:off x="9873360" y="3652560"/>
              <a:ext cx="1380960" cy="73800"/>
            </a:xfrm>
            <a:prstGeom prst="rect">
              <a:avLst/>
            </a:prstGeom>
            <a:solidFill>
              <a:srgbClr val="D9D9D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7080" rIns="9000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3" name="Google Shape;2817;p43"/>
            <p:cNvSpPr/>
            <p:nvPr/>
          </p:nvSpPr>
          <p:spPr>
            <a:xfrm rot="10800000">
              <a:off x="10912680" y="3599280"/>
              <a:ext cx="341640" cy="18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0" rIns="90000" bIns="90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24" name="Google Shape;2821;p43"/>
          <p:cNvGrpSpPr/>
          <p:nvPr/>
        </p:nvGrpSpPr>
        <p:grpSpPr>
          <a:xfrm>
            <a:off x="7788240" y="6282720"/>
            <a:ext cx="1380960" cy="180000"/>
            <a:chOff x="7788240" y="6282720"/>
            <a:chExt cx="1380960" cy="180000"/>
          </a:xfrm>
        </p:grpSpPr>
        <p:sp>
          <p:nvSpPr>
            <p:cNvPr id="225" name="Google Shape;2822;p43"/>
            <p:cNvSpPr/>
            <p:nvPr/>
          </p:nvSpPr>
          <p:spPr>
            <a:xfrm rot="10800000">
              <a:off x="7788240" y="6336000"/>
              <a:ext cx="1380960" cy="73800"/>
            </a:xfrm>
            <a:prstGeom prst="rect">
              <a:avLst/>
            </a:prstGeom>
            <a:solidFill>
              <a:srgbClr val="D9D9D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7080" rIns="9000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6" name="Google Shape;2823;p43"/>
            <p:cNvSpPr/>
            <p:nvPr/>
          </p:nvSpPr>
          <p:spPr>
            <a:xfrm rot="10800000">
              <a:off x="8492400" y="6282720"/>
              <a:ext cx="676800" cy="18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0" rIns="90000" bIns="90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27" name="Google Shape;2796;p43"/>
          <p:cNvGrpSpPr/>
          <p:nvPr/>
        </p:nvGrpSpPr>
        <p:grpSpPr>
          <a:xfrm>
            <a:off x="484920" y="1687320"/>
            <a:ext cx="3213000" cy="1489320"/>
            <a:chOff x="484920" y="1687320"/>
            <a:chExt cx="3213000" cy="1489320"/>
          </a:xfrm>
        </p:grpSpPr>
        <p:sp>
          <p:nvSpPr>
            <p:cNvPr id="228" name="Google Shape;2797;p43"/>
            <p:cNvSpPr/>
            <p:nvPr/>
          </p:nvSpPr>
          <p:spPr>
            <a:xfrm>
              <a:off x="484920" y="1687320"/>
              <a:ext cx="3009600" cy="44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000000"/>
                  </a:solidFill>
                  <a:latin typeface="Fira Sans Extra Condensed"/>
                  <a:ea typeface="Fira Sans Extra Condensed"/>
                </a:rPr>
                <a:t>Develop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Google Shape;2798;p43"/>
            <p:cNvSpPr/>
            <p:nvPr/>
          </p:nvSpPr>
          <p:spPr>
            <a:xfrm>
              <a:off x="484920" y="2341440"/>
              <a:ext cx="3213000" cy="83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70" b="0" strike="noStrike" spc="-1" dirty="0">
                  <a:solidFill>
                    <a:srgbClr val="000000"/>
                  </a:solidFill>
                  <a:latin typeface="Roboto"/>
                  <a:ea typeface="Roboto"/>
                </a:rPr>
                <a:t>an AI-powered pipeline (</a:t>
              </a:r>
              <a:r>
                <a:rPr lang="en-US" sz="1870" b="0" strike="noStrike" spc="-1" dirty="0" err="1">
                  <a:solidFill>
                    <a:srgbClr val="000000"/>
                  </a:solidFill>
                  <a:latin typeface="Roboto"/>
                  <a:ea typeface="Roboto"/>
                </a:rPr>
                <a:t>DxVar</a:t>
              </a:r>
              <a:r>
                <a:rPr lang="en-US" sz="1870" b="0" strike="noStrike" spc="-1" dirty="0">
                  <a:solidFill>
                    <a:srgbClr val="000000"/>
                  </a:solidFill>
                  <a:latin typeface="Roboto"/>
                  <a:ea typeface="Roboto"/>
                </a:rPr>
                <a:t>)</a:t>
              </a:r>
              <a:r>
                <a:rPr lang="en-US" sz="1800" b="0" strike="noStrike" spc="-1" dirty="0">
                  <a:solidFill>
                    <a:schemeClr val="dk1"/>
                  </a:solidFill>
                  <a:latin typeface="Arial"/>
                  <a:ea typeface="Arial"/>
                </a:rPr>
                <a:t> to improve </a:t>
              </a:r>
              <a:r>
                <a:rPr lang="en-US" sz="1800" b="1" strike="noStrike" spc="-1" dirty="0">
                  <a:solidFill>
                    <a:schemeClr val="dk1"/>
                  </a:solidFill>
                  <a:latin typeface="Arial"/>
                  <a:ea typeface="Arial"/>
                </a:rPr>
                <a:t>variant prioritization</a:t>
              </a:r>
              <a:r>
                <a:rPr lang="en-US" sz="1800" b="0" strike="noStrike" spc="-1" dirty="0">
                  <a:solidFill>
                    <a:schemeClr val="dk1"/>
                  </a:solidFill>
                  <a:latin typeface="Arial"/>
                  <a:ea typeface="Arial"/>
                </a:rPr>
                <a:t> for rare disease diagnosis </a:t>
              </a:r>
              <a:endParaRPr lang="en-US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" name="Google Shape;2796;p43"/>
          <p:cNvGrpSpPr/>
          <p:nvPr/>
        </p:nvGrpSpPr>
        <p:grpSpPr>
          <a:xfrm>
            <a:off x="412920" y="4281120"/>
            <a:ext cx="4056120" cy="1500840"/>
            <a:chOff x="412920" y="4281120"/>
            <a:chExt cx="4056120" cy="1500840"/>
          </a:xfrm>
        </p:grpSpPr>
        <p:sp>
          <p:nvSpPr>
            <p:cNvPr id="231" name="Google Shape;2797;p43"/>
            <p:cNvSpPr/>
            <p:nvPr/>
          </p:nvSpPr>
          <p:spPr>
            <a:xfrm>
              <a:off x="412920" y="4281120"/>
              <a:ext cx="2964240" cy="44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000000"/>
                  </a:solidFill>
                  <a:latin typeface="Fira Sans Extra Condensed"/>
                  <a:ea typeface="Fira Sans Extra Condensed"/>
                </a:rPr>
                <a:t>Extract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Google Shape;2798;p43"/>
            <p:cNvSpPr/>
            <p:nvPr/>
          </p:nvSpPr>
          <p:spPr>
            <a:xfrm>
              <a:off x="412920" y="4946760"/>
              <a:ext cx="4056120" cy="83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50" b="0" strike="noStrike" spc="-1" dirty="0">
                  <a:solidFill>
                    <a:srgbClr val="000000"/>
                  </a:solidFill>
                  <a:latin typeface="Roboto"/>
                  <a:ea typeface="Roboto"/>
                </a:rPr>
                <a:t>phenotypic data (HPO terms) from unstructured clinical notes using LLMs like </a:t>
              </a:r>
              <a:r>
                <a:rPr lang="en-US" sz="1850" b="1" strike="noStrike" spc="-1" dirty="0">
                  <a:solidFill>
                    <a:srgbClr val="000000"/>
                  </a:solidFill>
                  <a:latin typeface="Roboto"/>
                  <a:ea typeface="Roboto"/>
                </a:rPr>
                <a:t>LLaMA3</a:t>
              </a:r>
              <a:endParaRPr lang="en-US" sz="1850" b="1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" name="Google Shape;2796;p43"/>
          <p:cNvGrpSpPr/>
          <p:nvPr/>
        </p:nvGrpSpPr>
        <p:grpSpPr>
          <a:xfrm>
            <a:off x="7939800" y="1723320"/>
            <a:ext cx="4251240" cy="1284120"/>
            <a:chOff x="7939800" y="1723320"/>
            <a:chExt cx="4251240" cy="1284120"/>
          </a:xfrm>
        </p:grpSpPr>
        <p:sp>
          <p:nvSpPr>
            <p:cNvPr id="234" name="Google Shape;2797;p43"/>
            <p:cNvSpPr/>
            <p:nvPr/>
          </p:nvSpPr>
          <p:spPr>
            <a:xfrm>
              <a:off x="7939800" y="1723320"/>
              <a:ext cx="2864520" cy="44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000000"/>
                  </a:solidFill>
                  <a:latin typeface="Fira Sans Extra Condensed"/>
                  <a:ea typeface="Fira Sans Extra Condensed"/>
                </a:rPr>
                <a:t>Utilize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" name="Google Shape;2798;p43"/>
            <p:cNvSpPr/>
            <p:nvPr/>
          </p:nvSpPr>
          <p:spPr>
            <a:xfrm>
              <a:off x="7966440" y="2172240"/>
              <a:ext cx="4224600" cy="83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70" b="0" strike="noStrike" spc="-1">
                  <a:solidFill>
                    <a:srgbClr val="000000"/>
                  </a:solidFill>
                  <a:latin typeface="Roboto"/>
                  <a:ea typeface="Roboto"/>
                </a:rPr>
                <a:t>Exomiser and AI-assisted re-ranking to link phenotypes to the most likely causative genetic variants.</a:t>
              </a:r>
              <a:endParaRPr lang="en-US" sz="187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" name="Google Shape;2796;p43"/>
          <p:cNvGrpSpPr/>
          <p:nvPr/>
        </p:nvGrpSpPr>
        <p:grpSpPr>
          <a:xfrm>
            <a:off x="7932600" y="4281120"/>
            <a:ext cx="3877920" cy="1638720"/>
            <a:chOff x="7932600" y="4281120"/>
            <a:chExt cx="3877920" cy="1638720"/>
          </a:xfrm>
        </p:grpSpPr>
        <p:sp>
          <p:nvSpPr>
            <p:cNvPr id="237" name="Google Shape;2797;p43"/>
            <p:cNvSpPr/>
            <p:nvPr/>
          </p:nvSpPr>
          <p:spPr>
            <a:xfrm>
              <a:off x="7939800" y="4281120"/>
              <a:ext cx="2833920" cy="44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" sz="2400" b="1" strike="noStrike" spc="-1">
                  <a:solidFill>
                    <a:srgbClr val="000000"/>
                  </a:solidFill>
                  <a:latin typeface="Fira Sans Extra Condensed"/>
                  <a:ea typeface="Fira Sans Extra Condensed"/>
                </a:rPr>
                <a:t>Create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" name="Google Shape;2798;p43"/>
            <p:cNvSpPr/>
            <p:nvPr/>
          </p:nvSpPr>
          <p:spPr>
            <a:xfrm>
              <a:off x="7932600" y="5084640"/>
              <a:ext cx="3877920" cy="83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70" b="0" strike="noStrike" spc="-1">
                  <a:solidFill>
                    <a:srgbClr val="000000"/>
                  </a:solidFill>
                  <a:latin typeface="Roboto"/>
                  <a:ea typeface="Roboto"/>
                </a:rPr>
                <a:t>a user-friendly interface for clinicians to review and interpret variant-disease associations interactively.</a:t>
              </a:r>
              <a:endParaRPr lang="en-US" sz="187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" name="Google Shape;191;p22">
            <a:extLst>
              <a:ext uri="{FF2B5EF4-FFF2-40B4-BE49-F238E27FC236}">
                <a16:creationId xmlns:a16="http://schemas.microsoft.com/office/drawing/2014/main" id="{D684E362-180F-8099-ACA3-D86299FDAC13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Project Goals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201;p23"/>
          <p:cNvSpPr/>
          <p:nvPr/>
        </p:nvSpPr>
        <p:spPr>
          <a:xfrm>
            <a:off x="2329560" y="1368000"/>
            <a:ext cx="753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97" name="Google Shape;202;p23"/>
          <p:cNvPicPr/>
          <p:nvPr/>
        </p:nvPicPr>
        <p:blipFill>
          <a:blip r:embed="rId3"/>
          <a:srcRect t="-2579" b="2579"/>
          <a:stretch/>
        </p:blipFill>
        <p:spPr>
          <a:xfrm>
            <a:off x="3283200" y="1581841"/>
            <a:ext cx="5624640" cy="2250000"/>
          </a:xfrm>
          <a:prstGeom prst="rect">
            <a:avLst/>
          </a:prstGeom>
          <a:ln w="0">
            <a:noFill/>
          </a:ln>
        </p:spPr>
      </p:pic>
      <p:sp>
        <p:nvSpPr>
          <p:cNvPr id="198" name="Google Shape;203;p23"/>
          <p:cNvSpPr/>
          <p:nvPr/>
        </p:nvSpPr>
        <p:spPr>
          <a:xfrm>
            <a:off x="287640" y="2965680"/>
            <a:ext cx="5630400" cy="6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US" sz="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9" name="Google Shape;204;p23"/>
          <p:cNvSpPr/>
          <p:nvPr/>
        </p:nvSpPr>
        <p:spPr>
          <a:xfrm>
            <a:off x="3102840" y="4123122"/>
            <a:ext cx="6318985" cy="11079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91440" rIns="90000" bIns="91440" anchor="t">
            <a:spAutoFit/>
          </a:bodyPr>
          <a:lstStyle/>
          <a:p>
            <a:pPr marL="70560" algn="ctr">
              <a:lnSpc>
                <a:spcPct val="100000"/>
              </a:lnSpc>
              <a:buClr>
                <a:srgbClr val="222222"/>
              </a:buClr>
              <a:tabLst>
                <a:tab pos="408240" algn="l"/>
              </a:tabLst>
            </a:pPr>
            <a:r>
              <a:rPr lang="en-GB" sz="2000" spc="-1" dirty="0">
                <a:solidFill>
                  <a:srgbClr val="222222"/>
                </a:solidFill>
                <a:latin typeface="Arial"/>
                <a:ea typeface="Arial"/>
              </a:rPr>
              <a:t>A</a:t>
            </a:r>
            <a:r>
              <a:rPr lang="en-GB" sz="2000" b="0" strike="noStrike" spc="-1" dirty="0">
                <a:solidFill>
                  <a:srgbClr val="222222"/>
                </a:solidFill>
                <a:latin typeface="Arial"/>
                <a:ea typeface="Arial"/>
              </a:rPr>
              <a:t>n AI-driven tool that integrates-bioinformatics databases and tools for genetic variant interpretation and prioritization.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206;p23"/>
          <p:cNvSpPr/>
          <p:nvPr/>
        </p:nvSpPr>
        <p:spPr>
          <a:xfrm>
            <a:off x="6466320" y="2891880"/>
            <a:ext cx="5630400" cy="6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US" sz="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/>
          <p:cNvSpPr/>
          <p:nvPr/>
        </p:nvSpPr>
        <p:spPr>
          <a:xfrm>
            <a:off x="208440" y="6069240"/>
            <a:ext cx="53532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Arial"/>
              </a:rPr>
              <a:t>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65D8771-6417-DF92-435B-64BE78848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8" t="3081" r="27417" b="27928"/>
          <a:stretch>
            <a:fillRect/>
          </a:stretch>
        </p:blipFill>
        <p:spPr>
          <a:xfrm>
            <a:off x="6322794" y="12347"/>
            <a:ext cx="4383928" cy="683330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1B52E2-7674-FF2D-AF80-9EE926446D74}"/>
              </a:ext>
            </a:extLst>
          </p:cNvPr>
          <p:cNvCxnSpPr>
            <a:cxnSpLocks/>
          </p:cNvCxnSpPr>
          <p:nvPr/>
        </p:nvCxnSpPr>
        <p:spPr>
          <a:xfrm>
            <a:off x="3265714" y="2122715"/>
            <a:ext cx="7441008" cy="0"/>
          </a:xfrm>
          <a:prstGeom prst="line">
            <a:avLst/>
          </a:prstGeom>
          <a:ln w="19050">
            <a:solidFill>
              <a:schemeClr val="bg2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24BF07-5C98-B3CA-F0AC-43883DE6A1F8}"/>
              </a:ext>
            </a:extLst>
          </p:cNvPr>
          <p:cNvSpPr txBox="1"/>
          <p:nvPr/>
        </p:nvSpPr>
        <p:spPr>
          <a:xfrm>
            <a:off x="3506676" y="1057378"/>
            <a:ext cx="311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I. Phenotype Extraction &amp; Exomiser Input Preparation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53270-6E68-FBF6-10E0-D0E70ABB63F1}"/>
              </a:ext>
            </a:extLst>
          </p:cNvPr>
          <p:cNvSpPr txBox="1"/>
          <p:nvPr/>
        </p:nvSpPr>
        <p:spPr>
          <a:xfrm>
            <a:off x="3506676" y="2747372"/>
            <a:ext cx="311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II. Variant Prioritization via Exomiser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0D5EF-B733-85C9-5884-6749E2ADFFA7}"/>
              </a:ext>
            </a:extLst>
          </p:cNvPr>
          <p:cNvSpPr txBox="1"/>
          <p:nvPr/>
        </p:nvSpPr>
        <p:spPr>
          <a:xfrm>
            <a:off x="3506676" y="4945337"/>
            <a:ext cx="311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III. AI Assisted Re-Ranking of Variants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CFE6CF-DF4B-A60E-6C78-C7E36D78D40D}"/>
              </a:ext>
            </a:extLst>
          </p:cNvPr>
          <p:cNvCxnSpPr>
            <a:cxnSpLocks/>
          </p:cNvCxnSpPr>
          <p:nvPr/>
        </p:nvCxnSpPr>
        <p:spPr>
          <a:xfrm>
            <a:off x="3265714" y="3962401"/>
            <a:ext cx="7441008" cy="0"/>
          </a:xfrm>
          <a:prstGeom prst="line">
            <a:avLst/>
          </a:prstGeom>
          <a:ln w="19050">
            <a:solidFill>
              <a:schemeClr val="bg2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Google Shape;228;p26">
            <a:extLst>
              <a:ext uri="{FF2B5EF4-FFF2-40B4-BE49-F238E27FC236}">
                <a16:creationId xmlns:a16="http://schemas.microsoft.com/office/drawing/2014/main" id="{54C30581-BE53-5DC2-223F-7882BFC4BCC3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6" name="Google Shape;191;p22">
            <a:extLst>
              <a:ext uri="{FF2B5EF4-FFF2-40B4-BE49-F238E27FC236}">
                <a16:creationId xmlns:a16="http://schemas.microsoft.com/office/drawing/2014/main" id="{B7869CE1-ED48-BEF7-EA68-6C9943737C5E}"/>
              </a:ext>
            </a:extLst>
          </p:cNvPr>
          <p:cNvSpPr/>
          <p:nvPr/>
        </p:nvSpPr>
        <p:spPr>
          <a:xfrm>
            <a:off x="450540" y="404640"/>
            <a:ext cx="7531920" cy="1231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Pipeline </a:t>
            </a:r>
            <a:br>
              <a:rPr lang="en-GB" sz="3400" b="1" spc="-1" dirty="0">
                <a:solidFill>
                  <a:schemeClr val="dk2"/>
                </a:solidFill>
                <a:latin typeface="Arial"/>
              </a:rPr>
            </a:b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Flowchart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7FF-90B2-D6EF-6747-D48287A3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28;p26">
            <a:extLst>
              <a:ext uri="{FF2B5EF4-FFF2-40B4-BE49-F238E27FC236}">
                <a16:creationId xmlns:a16="http://schemas.microsoft.com/office/drawing/2014/main" id="{5ACEDEA6-56CA-AE96-FA31-CA67C17F76EC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45" name="TextBox 1">
            <a:extLst>
              <a:ext uri="{FF2B5EF4-FFF2-40B4-BE49-F238E27FC236}">
                <a16:creationId xmlns:a16="http://schemas.microsoft.com/office/drawing/2014/main" id="{254A8FD7-0F9E-F444-15A5-DDB601ECDB39}"/>
              </a:ext>
            </a:extLst>
          </p:cNvPr>
          <p:cNvSpPr/>
          <p:nvPr/>
        </p:nvSpPr>
        <p:spPr>
          <a:xfrm>
            <a:off x="208440" y="6069240"/>
            <a:ext cx="53532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Arial"/>
              </a:rPr>
              <a:t>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204;p23">
            <a:extLst>
              <a:ext uri="{FF2B5EF4-FFF2-40B4-BE49-F238E27FC236}">
                <a16:creationId xmlns:a16="http://schemas.microsoft.com/office/drawing/2014/main" id="{950CC289-E55A-972F-BBFE-BB93E2A2549E}"/>
              </a:ext>
            </a:extLst>
          </p:cNvPr>
          <p:cNvSpPr/>
          <p:nvPr/>
        </p:nvSpPr>
        <p:spPr>
          <a:xfrm>
            <a:off x="1262481" y="5402431"/>
            <a:ext cx="9667035" cy="10509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91440" rIns="90000" bIns="91440" anchor="t">
            <a:spAutoFit/>
          </a:bodyPr>
          <a:lstStyle/>
          <a:p>
            <a:pPr marL="457200" indent="-386640">
              <a:lnSpc>
                <a:spcPct val="150000"/>
              </a:lnSpc>
              <a:buClr>
                <a:srgbClr val="222222"/>
              </a:buClr>
              <a:buFont typeface="Arial"/>
              <a:buChar char="❏"/>
              <a:tabLst>
                <a:tab pos="408240" algn="l"/>
              </a:tabLst>
            </a:pPr>
            <a:r>
              <a:rPr lang="en-GB" sz="2000" b="0" strike="noStrike" spc="-1" dirty="0">
                <a:solidFill>
                  <a:srgbClr val="222222"/>
                </a:solidFill>
                <a:latin typeface="Arial"/>
                <a:ea typeface="Arial"/>
              </a:rPr>
              <a:t>All tested AI models/ tools struggle with HPO term extraction</a:t>
            </a:r>
          </a:p>
          <a:p>
            <a:pPr marL="457200" indent="-386640">
              <a:lnSpc>
                <a:spcPct val="150000"/>
              </a:lnSpc>
              <a:buClr>
                <a:srgbClr val="222222"/>
              </a:buClr>
              <a:buFont typeface="Arial"/>
              <a:buChar char="❏"/>
              <a:tabLst>
                <a:tab pos="408240" algn="l"/>
              </a:tabLst>
            </a:pPr>
            <a:r>
              <a:rPr lang="en-GB" sz="2000" spc="-1" dirty="0">
                <a:solidFill>
                  <a:srgbClr val="222222"/>
                </a:solidFill>
                <a:latin typeface="Arial"/>
                <a:ea typeface="Arial"/>
              </a:rPr>
              <a:t>However, we noticed that it has limited effected on the next steps in our pipeline</a:t>
            </a:r>
            <a:r>
              <a:rPr lang="en-GB" sz="2000" b="0" strike="noStrike" spc="-1" dirty="0">
                <a:solidFill>
                  <a:srgbClr val="222222"/>
                </a:solidFill>
                <a:latin typeface="Arial"/>
                <a:ea typeface="Arial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69FE5A-9E0A-3404-E20A-1DFCABB1E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982652"/>
              </p:ext>
            </p:extLst>
          </p:nvPr>
        </p:nvGraphicFramePr>
        <p:xfrm>
          <a:off x="2026222" y="1448921"/>
          <a:ext cx="7588944" cy="3462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Google Shape;191;p22">
            <a:extLst>
              <a:ext uri="{FF2B5EF4-FFF2-40B4-BE49-F238E27FC236}">
                <a16:creationId xmlns:a16="http://schemas.microsoft.com/office/drawing/2014/main" id="{C69CD8B8-33FC-B4FE-528C-24CA20DDD00C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Results – HPO Terms Extraction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62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4C79-B700-531E-FD49-767D4D98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>
            <a:extLst>
              <a:ext uri="{FF2B5EF4-FFF2-40B4-BE49-F238E27FC236}">
                <a16:creationId xmlns:a16="http://schemas.microsoft.com/office/drawing/2014/main" id="{1D678084-765C-C723-B06C-20577C6E601D}"/>
              </a:ext>
            </a:extLst>
          </p:cNvPr>
          <p:cNvSpPr/>
          <p:nvPr/>
        </p:nvSpPr>
        <p:spPr>
          <a:xfrm>
            <a:off x="208440" y="6069240"/>
            <a:ext cx="53532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Arial"/>
              </a:rPr>
              <a:t>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228;p26">
            <a:extLst>
              <a:ext uri="{FF2B5EF4-FFF2-40B4-BE49-F238E27FC236}">
                <a16:creationId xmlns:a16="http://schemas.microsoft.com/office/drawing/2014/main" id="{47F0495D-D01A-DE09-758D-0490851DD5C0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1448AC4-E040-0246-2193-99D32AF224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990475"/>
              </p:ext>
            </p:extLst>
          </p:nvPr>
        </p:nvGraphicFramePr>
        <p:xfrm>
          <a:off x="2743200" y="1629508"/>
          <a:ext cx="6224530" cy="4439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8E15215-3C81-63D6-6DD5-FFACA1CDBC0A}"/>
              </a:ext>
            </a:extLst>
          </p:cNvPr>
          <p:cNvSpPr/>
          <p:nvPr/>
        </p:nvSpPr>
        <p:spPr>
          <a:xfrm>
            <a:off x="6629400" y="2651760"/>
            <a:ext cx="2011680" cy="905256"/>
          </a:xfrm>
          <a:prstGeom prst="rect">
            <a:avLst/>
          </a:prstGeom>
          <a:solidFill>
            <a:srgbClr val="53A8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D2B665A9-B8CE-31CA-F186-D3BA60AFABE9}"/>
              </a:ext>
            </a:extLst>
          </p:cNvPr>
          <p:cNvSpPr/>
          <p:nvPr/>
        </p:nvSpPr>
        <p:spPr>
          <a:xfrm>
            <a:off x="8877300" y="2651760"/>
            <a:ext cx="90430" cy="905256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1A7EE4-C824-ABA6-4831-CCC9E39111E8}"/>
              </a:ext>
            </a:extLst>
          </p:cNvPr>
          <p:cNvCxnSpPr/>
          <p:nvPr/>
        </p:nvCxnSpPr>
        <p:spPr>
          <a:xfrm>
            <a:off x="8967730" y="3104388"/>
            <a:ext cx="688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529042-2338-4A89-FBD7-AEB58477E7A9}"/>
              </a:ext>
            </a:extLst>
          </p:cNvPr>
          <p:cNvSpPr txBox="1"/>
          <p:nvPr/>
        </p:nvSpPr>
        <p:spPr>
          <a:xfrm>
            <a:off x="9656323" y="2919722"/>
            <a:ext cx="201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AI Enhancement</a:t>
            </a:r>
          </a:p>
        </p:txBody>
      </p:sp>
      <p:sp>
        <p:nvSpPr>
          <p:cNvPr id="21" name="Google Shape;191;p22">
            <a:extLst>
              <a:ext uri="{FF2B5EF4-FFF2-40B4-BE49-F238E27FC236}">
                <a16:creationId xmlns:a16="http://schemas.microsoft.com/office/drawing/2014/main" id="{4445CAC4-B16A-C9E4-9DD1-A1C55BBA3E9B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Results – Variant Prioritization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669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15"/>
          <p:cNvGrpSpPr/>
          <p:nvPr/>
        </p:nvGrpSpPr>
        <p:grpSpPr>
          <a:xfrm>
            <a:off x="1999080" y="1893960"/>
            <a:ext cx="3219480" cy="1899720"/>
            <a:chOff x="1999080" y="1893960"/>
            <a:chExt cx="3219480" cy="1899720"/>
          </a:xfrm>
        </p:grpSpPr>
        <p:sp>
          <p:nvSpPr>
            <p:cNvPr id="252" name="Rectangle: Rounded Corners 9"/>
            <p:cNvSpPr/>
            <p:nvPr/>
          </p:nvSpPr>
          <p:spPr>
            <a:xfrm>
              <a:off x="1999080" y="1893960"/>
              <a:ext cx="3219480" cy="189972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0047BA"/>
              </a:solidFill>
              <a:round/>
            </a:ln>
            <a:effectLst>
              <a:outerShdw blurRad="63360" sx="102000" sy="102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400" b="0" strike="noStrike" spc="-1">
                <a:solidFill>
                  <a:schemeClr val="lt1"/>
                </a:solidFill>
                <a:latin typeface="Arial"/>
                <a:ea typeface="Arial"/>
              </a:endParaRPr>
            </a:p>
          </p:txBody>
        </p:sp>
        <p:sp>
          <p:nvSpPr>
            <p:cNvPr id="253" name="TextBox 12"/>
            <p:cNvSpPr/>
            <p:nvPr/>
          </p:nvSpPr>
          <p:spPr>
            <a:xfrm>
              <a:off x="1999080" y="2212560"/>
              <a:ext cx="3219480" cy="13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5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Arial"/>
                  <a:ea typeface="Arial"/>
                </a:rPr>
                <a:t>Successfully integrated </a:t>
              </a:r>
              <a:r>
                <a:rPr lang="en-US" sz="1400" b="1" strike="noStrike" spc="-1">
                  <a:solidFill>
                    <a:schemeClr val="dk1"/>
                  </a:solidFill>
                  <a:latin typeface="Arial"/>
                  <a:ea typeface="Arial"/>
                </a:rPr>
                <a:t>phenotype extraction</a:t>
              </a:r>
              <a:r>
                <a:rPr lang="en-US" sz="1400" b="0" strike="noStrike" spc="-1">
                  <a:solidFill>
                    <a:schemeClr val="dk1"/>
                  </a:solidFill>
                  <a:latin typeface="Arial"/>
                  <a:ea typeface="Arial"/>
                </a:rPr>
                <a:t>, </a:t>
              </a:r>
              <a:r>
                <a:rPr lang="en-US" sz="1400" b="1" strike="noStrike" spc="-1">
                  <a:solidFill>
                    <a:schemeClr val="dk1"/>
                  </a:solidFill>
                  <a:latin typeface="Arial"/>
                  <a:ea typeface="Arial"/>
                </a:rPr>
                <a:t>variant prioritization</a:t>
              </a:r>
              <a:r>
                <a:rPr lang="en-US" sz="1400" b="0" strike="noStrike" spc="-1">
                  <a:solidFill>
                    <a:schemeClr val="dk1"/>
                  </a:solidFill>
                  <a:latin typeface="Arial"/>
                  <a:ea typeface="Arial"/>
                </a:rPr>
                <a:t>, and </a:t>
              </a:r>
              <a:r>
                <a:rPr lang="en-US" sz="1400" b="1" strike="noStrike" spc="-1">
                  <a:solidFill>
                    <a:schemeClr val="dk1"/>
                  </a:solidFill>
                  <a:latin typeface="Arial"/>
                  <a:ea typeface="Arial"/>
                </a:rPr>
                <a:t>AI-based re-ranking</a:t>
              </a:r>
              <a:r>
                <a:rPr lang="en-US" sz="1400" b="0" strike="noStrike" spc="-1">
                  <a:solidFill>
                    <a:schemeClr val="dk1"/>
                  </a:solidFill>
                  <a:latin typeface="Arial"/>
                  <a:ea typeface="Arial"/>
                </a:rPr>
                <a:t> in a complete diagnostic pipeline.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4" name="Rectangle: Rounded Corners 16"/>
          <p:cNvSpPr/>
          <p:nvPr/>
        </p:nvSpPr>
        <p:spPr>
          <a:xfrm>
            <a:off x="6355440" y="4125960"/>
            <a:ext cx="3219480" cy="1899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47BA"/>
            </a:solidFill>
            <a:round/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55" name="Rectangle: Rounded Corners 17"/>
          <p:cNvSpPr/>
          <p:nvPr/>
        </p:nvSpPr>
        <p:spPr>
          <a:xfrm>
            <a:off x="6317280" y="1879560"/>
            <a:ext cx="3219480" cy="1899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47BA"/>
            </a:solidFill>
            <a:round/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56" name="Rectangle: Rounded Corners 19"/>
          <p:cNvSpPr/>
          <p:nvPr/>
        </p:nvSpPr>
        <p:spPr>
          <a:xfrm>
            <a:off x="1994400" y="4136760"/>
            <a:ext cx="3219480" cy="1899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47BA"/>
            </a:solidFill>
            <a:round/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57" name="TextBox 26"/>
          <p:cNvSpPr/>
          <p:nvPr/>
        </p:nvSpPr>
        <p:spPr>
          <a:xfrm>
            <a:off x="6531120" y="2248560"/>
            <a:ext cx="2904840" cy="10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AI re-ranking consistently placed the correct variant </a:t>
            </a:r>
            <a:r>
              <a:rPr lang="en-US" sz="1400" b="1" strike="noStrike" spc="-1" dirty="0">
                <a:solidFill>
                  <a:schemeClr val="dk1"/>
                </a:solidFill>
                <a:latin typeface="Arial"/>
                <a:ea typeface="Arial"/>
              </a:rPr>
              <a:t>first in all 76 analyzed cases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28"/>
          <p:cNvSpPr/>
          <p:nvPr/>
        </p:nvSpPr>
        <p:spPr>
          <a:xfrm>
            <a:off x="2178000" y="4472280"/>
            <a:ext cx="2864160" cy="13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Developed an intuitive </a:t>
            </a:r>
            <a:r>
              <a:rPr lang="en-US" sz="1400" b="1" strike="noStrike" spc="-1">
                <a:solidFill>
                  <a:schemeClr val="dk1"/>
                </a:solidFill>
                <a:latin typeface="Arial"/>
                <a:ea typeface="Arial"/>
              </a:rPr>
              <a:t>Streamlit-based UI</a:t>
            </a: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 with AI-generated summaries and linked literature support.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30"/>
          <p:cNvSpPr/>
          <p:nvPr/>
        </p:nvSpPr>
        <p:spPr>
          <a:xfrm>
            <a:off x="6568920" y="4565520"/>
            <a:ext cx="2792880" cy="10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US" sz="1400" b="1" strike="noStrike" spc="-1">
                <a:solidFill>
                  <a:schemeClr val="dk1"/>
                </a:solidFill>
                <a:latin typeface="Arial"/>
                <a:ea typeface="Arial"/>
              </a:rPr>
              <a:t>Open-source deployment</a:t>
            </a: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 on GitHub and live demo available locally.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2792;p43"/>
          <p:cNvSpPr/>
          <p:nvPr/>
        </p:nvSpPr>
        <p:spPr>
          <a:xfrm>
            <a:off x="1841760" y="3297240"/>
            <a:ext cx="836280" cy="55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400" b="1" strike="noStrike" spc="-1">
                <a:solidFill>
                  <a:schemeClr val="lt2">
                    <a:lumMod val="50000"/>
                  </a:schemeClr>
                </a:solidFill>
                <a:latin typeface="Fira Sans Extra Condensed"/>
                <a:ea typeface="Fira Sans Extra Condensed"/>
              </a:rPr>
              <a:t>1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2792;p43"/>
          <p:cNvSpPr/>
          <p:nvPr/>
        </p:nvSpPr>
        <p:spPr>
          <a:xfrm>
            <a:off x="6200280" y="3237480"/>
            <a:ext cx="836280" cy="55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400" b="1" strike="noStrike" spc="-1">
                <a:solidFill>
                  <a:schemeClr val="lt2">
                    <a:lumMod val="50000"/>
                  </a:schemeClr>
                </a:solidFill>
                <a:latin typeface="Fira Sans Extra Condensed"/>
                <a:ea typeface="Fira Sans Extra Condensed"/>
              </a:rPr>
              <a:t>2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2792;p43"/>
          <p:cNvSpPr/>
          <p:nvPr/>
        </p:nvSpPr>
        <p:spPr>
          <a:xfrm>
            <a:off x="1958760" y="5540040"/>
            <a:ext cx="836280" cy="55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400" b="1" strike="noStrike" spc="-1">
                <a:solidFill>
                  <a:schemeClr val="lt2">
                    <a:lumMod val="50000"/>
                  </a:schemeClr>
                </a:solidFill>
                <a:latin typeface="Fira Sans Extra Condensed"/>
                <a:ea typeface="Fira Sans Extra Condensed"/>
              </a:rPr>
              <a:t>3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2792;p43"/>
          <p:cNvSpPr/>
          <p:nvPr/>
        </p:nvSpPr>
        <p:spPr>
          <a:xfrm>
            <a:off x="6188040" y="5512680"/>
            <a:ext cx="836280" cy="55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400" b="1" strike="noStrike" spc="-1">
                <a:solidFill>
                  <a:schemeClr val="lt2">
                    <a:lumMod val="50000"/>
                  </a:schemeClr>
                </a:solidFill>
                <a:latin typeface="Fira Sans Extra Condensed"/>
                <a:ea typeface="Fira Sans Extra Condensed"/>
              </a:rPr>
              <a:t>4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228;p26">
            <a:extLst>
              <a:ext uri="{FF2B5EF4-FFF2-40B4-BE49-F238E27FC236}">
                <a16:creationId xmlns:a16="http://schemas.microsoft.com/office/drawing/2014/main" id="{38DC21B5-5663-046E-27D2-2486D9DF46EA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4A4707D7-8C9E-46C5-46F6-6D8DAE58A724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Achievements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648846" y="2023560"/>
            <a:ext cx="10711440" cy="3707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spAutoFit/>
          </a:bodyPr>
          <a:lstStyle/>
          <a:p>
            <a:pPr marL="343080" indent="-343080">
              <a:buClr>
                <a:srgbClr val="000000"/>
              </a:buClr>
              <a:buFont typeface="Wingdings" charset="2"/>
              <a:buChar char=""/>
              <a:tabLst>
                <a:tab pos="408240" algn="l"/>
              </a:tabLst>
            </a:pPr>
            <a:r>
              <a:rPr lang="en-US" sz="2000" spc="-1" dirty="0">
                <a:solidFill>
                  <a:schemeClr val="dk1"/>
                </a:solidFill>
                <a:ea typeface="Arial"/>
              </a:rPr>
              <a:t>Unique AI-Integrated Approach: Combines AI LLM model with established genomic tools to enhance accuracy.</a:t>
            </a:r>
            <a:br>
              <a:rPr lang="en-US" sz="2000" spc="-1" dirty="0">
                <a:solidFill>
                  <a:schemeClr val="dk1"/>
                </a:solidFill>
                <a:ea typeface="Arial"/>
              </a:rPr>
            </a:b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  <a:tabLst>
                <a:tab pos="408240" algn="l"/>
              </a:tabLst>
            </a:pPr>
            <a:r>
              <a:rPr lang="en-US" sz="20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Fast, Accurate, and Scalable: Deployed a fully automated system that ranks variants end-to-end.</a:t>
            </a:r>
          </a:p>
          <a:p>
            <a:pPr marL="343080" indent="-343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  <a:tabLst>
                <a:tab pos="408240" algn="l"/>
              </a:tabLst>
            </a:pPr>
            <a:r>
              <a:rPr lang="en-US" sz="2000" spc="-1" dirty="0">
                <a:solidFill>
                  <a:schemeClr val="dk1"/>
                </a:solidFill>
                <a:ea typeface="Arial"/>
              </a:rPr>
              <a:t>HPO Terms – Limited Impact: In our platform, Human Phenotype Ontology currently has only a minimal effect on how variants are prioritized, unlike in other tools. </a:t>
            </a:r>
          </a:p>
          <a:p>
            <a:pPr marL="343080" indent="-343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  <a:tabLst>
                <a:tab pos="408240" algn="l"/>
              </a:tabLst>
            </a:pPr>
            <a:r>
              <a:rPr lang="en-US" sz="2000" spc="-1" dirty="0">
                <a:solidFill>
                  <a:schemeClr val="dk1"/>
                </a:solidFill>
                <a:ea typeface="Arial"/>
              </a:rPr>
              <a:t>First variant analysis tool that supports Arabic input and output</a:t>
            </a:r>
          </a:p>
          <a:p>
            <a:pPr>
              <a:lnSpc>
                <a:spcPct val="100000"/>
              </a:lnSpc>
              <a:buClr>
                <a:srgbClr val="000000"/>
              </a:buClr>
              <a:tabLst>
                <a:tab pos="40824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228;p26">
            <a:extLst>
              <a:ext uri="{FF2B5EF4-FFF2-40B4-BE49-F238E27FC236}">
                <a16:creationId xmlns:a16="http://schemas.microsoft.com/office/drawing/2014/main" id="{F367CB3A-8C9D-54F5-75F5-F0B70BAC2049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C0137165-2ED8-7C12-752E-D3AD1480B619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Novelty and Findings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6F22-5972-FF4A-41E0-7CA1CB9C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>
            <a:extLst>
              <a:ext uri="{FF2B5EF4-FFF2-40B4-BE49-F238E27FC236}">
                <a16:creationId xmlns:a16="http://schemas.microsoft.com/office/drawing/2014/main" id="{7233FB7D-E2E4-D8AE-FC5B-3C7B299A1CFF}"/>
              </a:ext>
            </a:extLst>
          </p:cNvPr>
          <p:cNvSpPr/>
          <p:nvPr/>
        </p:nvSpPr>
        <p:spPr>
          <a:xfrm>
            <a:off x="208440" y="6069240"/>
            <a:ext cx="53532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Arial"/>
              </a:rPr>
              <a:t>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B23EEEC-C0F9-7D97-2C79-F44A919B0386}"/>
              </a:ext>
            </a:extLst>
          </p:cNvPr>
          <p:cNvSpPr txBox="1"/>
          <p:nvPr/>
        </p:nvSpPr>
        <p:spPr>
          <a:xfrm>
            <a:off x="3320547" y="3584648"/>
            <a:ext cx="524340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Arial"/>
                <a:hlinkClick r:id="rId2"/>
              </a:rPr>
              <a:t>https://www.youtube.com/watch?v=48dp_LuwO00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76AF888-978D-4E41-1307-92097A8FADF6}"/>
              </a:ext>
            </a:extLst>
          </p:cNvPr>
          <p:cNvSpPr txBox="1"/>
          <p:nvPr/>
        </p:nvSpPr>
        <p:spPr>
          <a:xfrm>
            <a:off x="450540" y="1014910"/>
            <a:ext cx="6462743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DxVar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in Action: Full Variant Ranking in &lt;4 Minutes</a:t>
            </a:r>
          </a:p>
        </p:txBody>
      </p:sp>
      <p:sp>
        <p:nvSpPr>
          <p:cNvPr id="2" name="Google Shape;228;p26">
            <a:extLst>
              <a:ext uri="{FF2B5EF4-FFF2-40B4-BE49-F238E27FC236}">
                <a16:creationId xmlns:a16="http://schemas.microsoft.com/office/drawing/2014/main" id="{26A2348B-846D-35B6-3A6D-91042AD03F72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16A5AD4C-E847-BC87-3E9A-5A1F536C2044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Demo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1296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5"/>
          <p:cNvSpPr/>
          <p:nvPr/>
        </p:nvSpPr>
        <p:spPr>
          <a:xfrm>
            <a:off x="969480" y="1282211"/>
            <a:ext cx="10711440" cy="45735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spAutoFit/>
          </a:bodyPr>
          <a:lstStyle/>
          <a:p>
            <a:pPr marL="343080" indent="-343080">
              <a:lnSpc>
                <a:spcPct val="2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000" b="0" strike="noStrike" spc="-1" dirty="0">
                <a:solidFill>
                  <a:schemeClr val="dk1"/>
                </a:solidFill>
                <a:latin typeface="Arial"/>
                <a:ea typeface="Arial"/>
              </a:rPr>
              <a:t>Enhance accuracy of clinical phenotype extraction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0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Full cloud web deployment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000" b="0" strike="noStrike" spc="-1" dirty="0">
                <a:solidFill>
                  <a:schemeClr val="dk1"/>
                </a:solidFill>
                <a:latin typeface="Arial"/>
                <a:ea typeface="Arial"/>
              </a:rPr>
              <a:t>Larger Validation Datasets</a:t>
            </a:r>
          </a:p>
          <a:p>
            <a:pPr marL="343080" indent="-343080">
              <a:lnSpc>
                <a:spcPct val="2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000" spc="-1" dirty="0">
                <a:solidFill>
                  <a:schemeClr val="dk1"/>
                </a:solidFill>
                <a:ea typeface="Arial"/>
              </a:rPr>
              <a:t>Support for Structural and Copy Number Variants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2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000" b="0" strike="noStrike" spc="-1" dirty="0">
                <a:solidFill>
                  <a:schemeClr val="dk1"/>
                </a:solidFill>
                <a:latin typeface="Arial"/>
                <a:ea typeface="Arial"/>
              </a:rPr>
              <a:t>Collaboration with clinical partners</a:t>
            </a:r>
          </a:p>
          <a:p>
            <a:pPr marL="343080" indent="-343080" defTabSz="914400">
              <a:lnSpc>
                <a:spcPct val="2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000" spc="-1" dirty="0">
                <a:solidFill>
                  <a:schemeClr val="dk1"/>
                </a:solidFill>
                <a:latin typeface="Arial"/>
                <a:ea typeface="Arial"/>
              </a:rPr>
              <a:t>Benchmark with smaller AI models (ex: 8B Llama)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228;p26">
            <a:extLst>
              <a:ext uri="{FF2B5EF4-FFF2-40B4-BE49-F238E27FC236}">
                <a16:creationId xmlns:a16="http://schemas.microsoft.com/office/drawing/2014/main" id="{3C9508AE-A45F-CF5D-D4B1-7DB426756F4B}"/>
              </a:ext>
            </a:extLst>
          </p:cNvPr>
          <p:cNvSpPr/>
          <p:nvPr/>
        </p:nvSpPr>
        <p:spPr>
          <a:xfrm>
            <a:off x="10492508" y="234641"/>
            <a:ext cx="1440000" cy="1214280"/>
          </a:xfrm>
          <a:custGeom>
            <a:avLst/>
            <a:gdLst>
              <a:gd name="textAreaLeft" fmla="*/ 0 w 1440000"/>
              <a:gd name="textAreaRight" fmla="*/ 1441080 w 1440000"/>
              <a:gd name="textAreaTop" fmla="*/ 0 h 1214280"/>
              <a:gd name="textAreaBottom" fmla="*/ 1215360 h 1214280"/>
            </a:gdLst>
            <a:ahLst/>
            <a:cxnLst/>
            <a:rect l="textAreaLeft" t="textAreaTop" r="textAreaRight" b="textAreaBottom"/>
            <a:pathLst>
              <a:path w="1960790" h="1642226">
                <a:moveTo>
                  <a:pt x="0" y="0"/>
                </a:moveTo>
                <a:lnTo>
                  <a:pt x="1960790" y="0"/>
                </a:lnTo>
                <a:lnTo>
                  <a:pt x="1960790" y="1642226"/>
                </a:lnTo>
                <a:lnTo>
                  <a:pt x="0" y="1642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D3CEEEA6-9AF1-933D-BFA9-7E533FA02D19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Future Directions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02C4-A90B-033A-E375-48D6C3286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1;p22">
            <a:extLst>
              <a:ext uri="{FF2B5EF4-FFF2-40B4-BE49-F238E27FC236}">
                <a16:creationId xmlns:a16="http://schemas.microsoft.com/office/drawing/2014/main" id="{CC8C5124-3F25-49E8-4F70-8E676AF4446B}"/>
              </a:ext>
            </a:extLst>
          </p:cNvPr>
          <p:cNvSpPr/>
          <p:nvPr/>
        </p:nvSpPr>
        <p:spPr>
          <a:xfrm>
            <a:off x="450540" y="404640"/>
            <a:ext cx="753192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3400" b="1" spc="-1" dirty="0">
                <a:solidFill>
                  <a:schemeClr val="dk2"/>
                </a:solidFill>
                <a:latin typeface="Arial"/>
              </a:rPr>
              <a:t>Acknowledgments</a:t>
            </a:r>
            <a:endParaRPr lang="en-US" sz="3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3EF05EC-B967-108B-260C-4D5DE86BA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003" y="3255919"/>
            <a:ext cx="2889401" cy="58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merican University of Beirut - Wikipedia">
            <a:extLst>
              <a:ext uri="{FF2B5EF4-FFF2-40B4-BE49-F238E27FC236}">
                <a16:creationId xmlns:a16="http://schemas.microsoft.com/office/drawing/2014/main" id="{9A2C8C4B-74F9-1413-4EE5-1AF6C49B6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141" y="3118690"/>
            <a:ext cx="2181817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mubadala Logo PNG Vector (EPS) Free Download">
            <a:extLst>
              <a:ext uri="{FF2B5EF4-FFF2-40B4-BE49-F238E27FC236}">
                <a16:creationId xmlns:a16="http://schemas.microsoft.com/office/drawing/2014/main" id="{87222CB1-A247-1373-78EB-9F4226F28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9" b="32967"/>
          <a:stretch>
            <a:fillRect/>
          </a:stretch>
        </p:blipFill>
        <p:spPr bwMode="auto">
          <a:xfrm>
            <a:off x="8364695" y="3118690"/>
            <a:ext cx="2076492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38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KU Theme">
  <a:themeElements>
    <a:clrScheme name="KU">
      <a:dk1>
        <a:srgbClr val="000000"/>
      </a:dk1>
      <a:lt1>
        <a:srgbClr val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8fe1c0a-19f5-4f24-a662-fdd5dd460025}" enabled="0" method="" siteId="{08fe1c0a-19f5-4f24-a662-fdd5dd4600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</TotalTime>
  <Words>860</Words>
  <Application>Microsoft Macintosh PowerPoint</Application>
  <PresentationFormat>Widescreen</PresentationFormat>
  <Paragraphs>157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16</vt:i4>
      </vt:variant>
    </vt:vector>
  </HeadingPairs>
  <TitlesOfParts>
    <vt:vector size="45" baseType="lpstr">
      <vt:lpstr>Arial</vt:lpstr>
      <vt:lpstr>Arial</vt:lpstr>
      <vt:lpstr>Calibri</vt:lpstr>
      <vt:lpstr>Fira Sans Extra Condensed</vt:lpstr>
      <vt:lpstr>OpenSymbol</vt:lpstr>
      <vt:lpstr>proxima-nova</vt:lpstr>
      <vt:lpstr>Roboto</vt:lpstr>
      <vt:lpstr>Symbol</vt:lpstr>
      <vt:lpstr>Times New Roman</vt:lpstr>
      <vt:lpstr>Wingdings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KU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Wahaj Ahmed</cp:lastModifiedBy>
  <cp:revision>97</cp:revision>
  <dcterms:modified xsi:type="dcterms:W3CDTF">2025-08-22T11:28:19Z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0x0101005DC1AC701867C0469D2142D8ADD8B3FB</vt:lpwstr>
  </property>
  <property fmtid="{D5CDD505-2E9C-101B-9397-08002B2CF9AE}" pid="3" name="HiddenSlides">
    <vt:i4>1</vt:i4>
  </property>
  <property fmtid="{D5CDD505-2E9C-101B-9397-08002B2CF9AE}" pid="4" name="Notes">
    <vt:i4>11</vt:i4>
  </property>
  <property fmtid="{D5CDD505-2E9C-101B-9397-08002B2CF9AE}" pid="5" name="PresentationFormat">
    <vt:lpwstr>Widescreen</vt:lpwstr>
  </property>
  <property fmtid="{D5CDD505-2E9C-101B-9397-08002B2CF9AE}" pid="6" name="Slides">
    <vt:i4>11</vt:i4>
  </property>
</Properties>
</file>